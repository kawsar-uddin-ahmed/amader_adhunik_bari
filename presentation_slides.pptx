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4" r:id="rId1"/>
  </p:sldMasterIdLst>
  <p:notesMasterIdLst>
    <p:notesMasterId r:id="rId53"/>
  </p:notesMasterIdLst>
  <p:handoutMasterIdLst>
    <p:handoutMasterId r:id="rId54"/>
  </p:handoutMasterIdLst>
  <p:sldIdLst>
    <p:sldId id="269" r:id="rId2"/>
    <p:sldId id="257" r:id="rId3"/>
    <p:sldId id="259" r:id="rId4"/>
    <p:sldId id="260" r:id="rId5"/>
    <p:sldId id="261" r:id="rId6"/>
    <p:sldId id="270" r:id="rId7"/>
    <p:sldId id="268" r:id="rId8"/>
    <p:sldId id="262" r:id="rId9"/>
    <p:sldId id="264" r:id="rId10"/>
    <p:sldId id="267" r:id="rId11"/>
    <p:sldId id="272" r:id="rId12"/>
    <p:sldId id="266" r:id="rId13"/>
    <p:sldId id="271" r:id="rId14"/>
    <p:sldId id="273" r:id="rId15"/>
    <p:sldId id="282" r:id="rId16"/>
    <p:sldId id="284" r:id="rId17"/>
    <p:sldId id="285" r:id="rId18"/>
    <p:sldId id="286" r:id="rId19"/>
    <p:sldId id="287" r:id="rId20"/>
    <p:sldId id="288" r:id="rId21"/>
    <p:sldId id="290" r:id="rId22"/>
    <p:sldId id="289" r:id="rId23"/>
    <p:sldId id="291" r:id="rId24"/>
    <p:sldId id="292" r:id="rId25"/>
    <p:sldId id="293" r:id="rId26"/>
    <p:sldId id="295" r:id="rId27"/>
    <p:sldId id="276" r:id="rId28"/>
    <p:sldId id="294" r:id="rId29"/>
    <p:sldId id="297" r:id="rId30"/>
    <p:sldId id="314" r:id="rId31"/>
    <p:sldId id="296" r:id="rId32"/>
    <p:sldId id="281" r:id="rId33"/>
    <p:sldId id="298" r:id="rId34"/>
    <p:sldId id="299" r:id="rId35"/>
    <p:sldId id="303" r:id="rId36"/>
    <p:sldId id="304" r:id="rId37"/>
    <p:sldId id="305" r:id="rId38"/>
    <p:sldId id="306" r:id="rId39"/>
    <p:sldId id="307" r:id="rId40"/>
    <p:sldId id="308" r:id="rId41"/>
    <p:sldId id="309" r:id="rId42"/>
    <p:sldId id="310" r:id="rId43"/>
    <p:sldId id="311" r:id="rId44"/>
    <p:sldId id="312" r:id="rId45"/>
    <p:sldId id="313" r:id="rId46"/>
    <p:sldId id="315" r:id="rId47"/>
    <p:sldId id="275" r:id="rId48"/>
    <p:sldId id="277" r:id="rId49"/>
    <p:sldId id="279" r:id="rId50"/>
    <p:sldId id="280" r:id="rId51"/>
    <p:sldId id="316" r:id="rId52"/>
  </p:sldIdLst>
  <p:sldSz cx="11887200" cy="6035675"/>
  <p:notesSz cx="6858000" cy="9144000"/>
  <p:defaultTextStyle>
    <a:defPPr>
      <a:defRPr lang="en-US"/>
    </a:defPPr>
    <a:lvl1pPr marL="0" algn="l" defTabSz="785012" rtl="0" eaLnBrk="1" latinLnBrk="0" hangingPunct="1">
      <a:defRPr sz="1500" kern="1200">
        <a:solidFill>
          <a:schemeClr val="tx1"/>
        </a:solidFill>
        <a:latin typeface="+mn-lt"/>
        <a:ea typeface="+mn-ea"/>
        <a:cs typeface="+mn-cs"/>
      </a:defRPr>
    </a:lvl1pPr>
    <a:lvl2pPr marL="392506" algn="l" defTabSz="785012" rtl="0" eaLnBrk="1" latinLnBrk="0" hangingPunct="1">
      <a:defRPr sz="1500" kern="1200">
        <a:solidFill>
          <a:schemeClr val="tx1"/>
        </a:solidFill>
        <a:latin typeface="+mn-lt"/>
        <a:ea typeface="+mn-ea"/>
        <a:cs typeface="+mn-cs"/>
      </a:defRPr>
    </a:lvl2pPr>
    <a:lvl3pPr marL="785012" algn="l" defTabSz="785012" rtl="0" eaLnBrk="1" latinLnBrk="0" hangingPunct="1">
      <a:defRPr sz="1500" kern="1200">
        <a:solidFill>
          <a:schemeClr val="tx1"/>
        </a:solidFill>
        <a:latin typeface="+mn-lt"/>
        <a:ea typeface="+mn-ea"/>
        <a:cs typeface="+mn-cs"/>
      </a:defRPr>
    </a:lvl3pPr>
    <a:lvl4pPr marL="1177519" algn="l" defTabSz="785012" rtl="0" eaLnBrk="1" latinLnBrk="0" hangingPunct="1">
      <a:defRPr sz="1500" kern="1200">
        <a:solidFill>
          <a:schemeClr val="tx1"/>
        </a:solidFill>
        <a:latin typeface="+mn-lt"/>
        <a:ea typeface="+mn-ea"/>
        <a:cs typeface="+mn-cs"/>
      </a:defRPr>
    </a:lvl4pPr>
    <a:lvl5pPr marL="1570025" algn="l" defTabSz="785012" rtl="0" eaLnBrk="1" latinLnBrk="0" hangingPunct="1">
      <a:defRPr sz="1500" kern="1200">
        <a:solidFill>
          <a:schemeClr val="tx1"/>
        </a:solidFill>
        <a:latin typeface="+mn-lt"/>
        <a:ea typeface="+mn-ea"/>
        <a:cs typeface="+mn-cs"/>
      </a:defRPr>
    </a:lvl5pPr>
    <a:lvl6pPr marL="1962531" algn="l" defTabSz="785012" rtl="0" eaLnBrk="1" latinLnBrk="0" hangingPunct="1">
      <a:defRPr sz="1500" kern="1200">
        <a:solidFill>
          <a:schemeClr val="tx1"/>
        </a:solidFill>
        <a:latin typeface="+mn-lt"/>
        <a:ea typeface="+mn-ea"/>
        <a:cs typeface="+mn-cs"/>
      </a:defRPr>
    </a:lvl6pPr>
    <a:lvl7pPr marL="2355037" algn="l" defTabSz="785012" rtl="0" eaLnBrk="1" latinLnBrk="0" hangingPunct="1">
      <a:defRPr sz="1500" kern="1200">
        <a:solidFill>
          <a:schemeClr val="tx1"/>
        </a:solidFill>
        <a:latin typeface="+mn-lt"/>
        <a:ea typeface="+mn-ea"/>
        <a:cs typeface="+mn-cs"/>
      </a:defRPr>
    </a:lvl7pPr>
    <a:lvl8pPr marL="2747543" algn="l" defTabSz="785012" rtl="0" eaLnBrk="1" latinLnBrk="0" hangingPunct="1">
      <a:defRPr sz="1500" kern="1200">
        <a:solidFill>
          <a:schemeClr val="tx1"/>
        </a:solidFill>
        <a:latin typeface="+mn-lt"/>
        <a:ea typeface="+mn-ea"/>
        <a:cs typeface="+mn-cs"/>
      </a:defRPr>
    </a:lvl8pPr>
    <a:lvl9pPr marL="3140050" algn="l" defTabSz="785012" rtl="0" eaLnBrk="1" latinLnBrk="0" hangingPunct="1">
      <a:defRPr sz="15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01">
          <p15:clr>
            <a:srgbClr val="A4A3A4"/>
          </p15:clr>
        </p15:guide>
        <p15:guide id="2" pos="374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24" autoAdjust="0"/>
  </p:normalViewPr>
  <p:slideViewPr>
    <p:cSldViewPr>
      <p:cViewPr varScale="1">
        <p:scale>
          <a:sx n="78" d="100"/>
          <a:sy n="78" d="100"/>
        </p:scale>
        <p:origin x="-474" y="-102"/>
      </p:cViewPr>
      <p:guideLst>
        <p:guide orient="horz" pos="1901"/>
        <p:guide pos="3744"/>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207C545-AF0A-4CE4-8AAB-45930A8BF65B}" type="datetimeFigureOut">
              <a:rPr lang="en-US" smtClean="0"/>
              <a:pPr/>
              <a:t>6/9/2021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8FC4029-256E-4433-9FCD-5C704552B1DE}" type="slidenum">
              <a:rPr lang="en-US" smtClean="0"/>
              <a:pPr/>
              <a:t>‹#›</a:t>
            </a:fld>
            <a:endParaRPr lang="en-US" dirty="0"/>
          </a:p>
        </p:txBody>
      </p:sp>
    </p:spTree>
    <p:extLst>
      <p:ext uri="{BB962C8B-B14F-4D97-AF65-F5344CB8AC3E}">
        <p14:creationId xmlns:p14="http://schemas.microsoft.com/office/powerpoint/2010/main" xmlns="" val="34313812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C1B616-92EA-4E14-9057-8678A4557918}" type="datetimeFigureOut">
              <a:rPr lang="en-US" smtClean="0"/>
              <a:pPr/>
              <a:t>6/9/2021</a:t>
            </a:fld>
            <a:endParaRPr lang="en-US" dirty="0"/>
          </a:p>
        </p:txBody>
      </p:sp>
      <p:sp>
        <p:nvSpPr>
          <p:cNvPr id="4" name="Slide Image Placeholder 3"/>
          <p:cNvSpPr>
            <a:spLocks noGrp="1" noRot="1" noChangeAspect="1"/>
          </p:cNvSpPr>
          <p:nvPr>
            <p:ph type="sldImg" idx="2"/>
          </p:nvPr>
        </p:nvSpPr>
        <p:spPr>
          <a:xfrm>
            <a:off x="52388" y="685800"/>
            <a:ext cx="67532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0F63E7-4C07-4633-B390-543E83666B5E}" type="slidenum">
              <a:rPr lang="en-US" smtClean="0"/>
              <a:pPr/>
              <a:t>‹#›</a:t>
            </a:fld>
            <a:endParaRPr lang="en-US" dirty="0"/>
          </a:p>
        </p:txBody>
      </p:sp>
    </p:spTree>
    <p:extLst>
      <p:ext uri="{BB962C8B-B14F-4D97-AF65-F5344CB8AC3E}">
        <p14:creationId xmlns:p14="http://schemas.microsoft.com/office/powerpoint/2010/main" xmlns="" val="2667608098"/>
      </p:ext>
    </p:extLst>
  </p:cSld>
  <p:clrMap bg1="lt1" tx1="dk1" bg2="lt2" tx2="dk2" accent1="accent1" accent2="accent2" accent3="accent3" accent4="accent4" accent5="accent5" accent6="accent6" hlink="hlink" folHlink="folHlink"/>
  <p:hf hdr="0" ftr="0" dt="0"/>
  <p:notesStyle>
    <a:lvl1pPr marL="0" algn="l" defTabSz="785012" rtl="0" eaLnBrk="1" latinLnBrk="0" hangingPunct="1">
      <a:defRPr sz="1000" kern="1200">
        <a:solidFill>
          <a:schemeClr val="tx1"/>
        </a:solidFill>
        <a:latin typeface="+mn-lt"/>
        <a:ea typeface="+mn-ea"/>
        <a:cs typeface="+mn-cs"/>
      </a:defRPr>
    </a:lvl1pPr>
    <a:lvl2pPr marL="392506" algn="l" defTabSz="785012" rtl="0" eaLnBrk="1" latinLnBrk="0" hangingPunct="1">
      <a:defRPr sz="1000" kern="1200">
        <a:solidFill>
          <a:schemeClr val="tx1"/>
        </a:solidFill>
        <a:latin typeface="+mn-lt"/>
        <a:ea typeface="+mn-ea"/>
        <a:cs typeface="+mn-cs"/>
      </a:defRPr>
    </a:lvl2pPr>
    <a:lvl3pPr marL="785012" algn="l" defTabSz="785012" rtl="0" eaLnBrk="1" latinLnBrk="0" hangingPunct="1">
      <a:defRPr sz="1000" kern="1200">
        <a:solidFill>
          <a:schemeClr val="tx1"/>
        </a:solidFill>
        <a:latin typeface="+mn-lt"/>
        <a:ea typeface="+mn-ea"/>
        <a:cs typeface="+mn-cs"/>
      </a:defRPr>
    </a:lvl3pPr>
    <a:lvl4pPr marL="1177519" algn="l" defTabSz="785012" rtl="0" eaLnBrk="1" latinLnBrk="0" hangingPunct="1">
      <a:defRPr sz="1000" kern="1200">
        <a:solidFill>
          <a:schemeClr val="tx1"/>
        </a:solidFill>
        <a:latin typeface="+mn-lt"/>
        <a:ea typeface="+mn-ea"/>
        <a:cs typeface="+mn-cs"/>
      </a:defRPr>
    </a:lvl4pPr>
    <a:lvl5pPr marL="1570025" algn="l" defTabSz="785012" rtl="0" eaLnBrk="1" latinLnBrk="0" hangingPunct="1">
      <a:defRPr sz="1000" kern="1200">
        <a:solidFill>
          <a:schemeClr val="tx1"/>
        </a:solidFill>
        <a:latin typeface="+mn-lt"/>
        <a:ea typeface="+mn-ea"/>
        <a:cs typeface="+mn-cs"/>
      </a:defRPr>
    </a:lvl5pPr>
    <a:lvl6pPr marL="1962531" algn="l" defTabSz="785012" rtl="0" eaLnBrk="1" latinLnBrk="0" hangingPunct="1">
      <a:defRPr sz="1000" kern="1200">
        <a:solidFill>
          <a:schemeClr val="tx1"/>
        </a:solidFill>
        <a:latin typeface="+mn-lt"/>
        <a:ea typeface="+mn-ea"/>
        <a:cs typeface="+mn-cs"/>
      </a:defRPr>
    </a:lvl6pPr>
    <a:lvl7pPr marL="2355037" algn="l" defTabSz="785012" rtl="0" eaLnBrk="1" latinLnBrk="0" hangingPunct="1">
      <a:defRPr sz="1000" kern="1200">
        <a:solidFill>
          <a:schemeClr val="tx1"/>
        </a:solidFill>
        <a:latin typeface="+mn-lt"/>
        <a:ea typeface="+mn-ea"/>
        <a:cs typeface="+mn-cs"/>
      </a:defRPr>
    </a:lvl7pPr>
    <a:lvl8pPr marL="2747543" algn="l" defTabSz="785012" rtl="0" eaLnBrk="1" latinLnBrk="0" hangingPunct="1">
      <a:defRPr sz="1000" kern="1200">
        <a:solidFill>
          <a:schemeClr val="tx1"/>
        </a:solidFill>
        <a:latin typeface="+mn-lt"/>
        <a:ea typeface="+mn-ea"/>
        <a:cs typeface="+mn-cs"/>
      </a:defRPr>
    </a:lvl8pPr>
    <a:lvl9pPr marL="3140050" algn="l" defTabSz="785012"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2388" y="685800"/>
            <a:ext cx="67532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0F63E7-4C07-4633-B390-543E83666B5E}" type="slidenum">
              <a:rPr lang="en-US" smtClean="0"/>
              <a:pPr/>
              <a:t>2</a:t>
            </a:fld>
            <a:endParaRPr lang="en-US" dirty="0"/>
          </a:p>
        </p:txBody>
      </p:sp>
    </p:spTree>
    <p:extLst>
      <p:ext uri="{BB962C8B-B14F-4D97-AF65-F5344CB8AC3E}">
        <p14:creationId xmlns:p14="http://schemas.microsoft.com/office/powerpoint/2010/main" xmlns="" val="705827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2388" y="685800"/>
            <a:ext cx="67532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0F63E7-4C07-4633-B390-543E83666B5E}" type="slidenum">
              <a:rPr lang="en-US" smtClean="0"/>
              <a:pPr/>
              <a:t>10</a:t>
            </a:fld>
            <a:endParaRPr lang="en-US" dirty="0"/>
          </a:p>
        </p:txBody>
      </p:sp>
    </p:spTree>
    <p:extLst>
      <p:ext uri="{BB962C8B-B14F-4D97-AF65-F5344CB8AC3E}">
        <p14:creationId xmlns:p14="http://schemas.microsoft.com/office/powerpoint/2010/main" xmlns="" val="3727721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2388" y="685800"/>
            <a:ext cx="67532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0F63E7-4C07-4633-B390-543E83666B5E}" type="slidenum">
              <a:rPr lang="en-US" smtClean="0"/>
              <a:pPr/>
              <a:t>11</a:t>
            </a:fld>
            <a:endParaRPr lang="en-US" dirty="0"/>
          </a:p>
        </p:txBody>
      </p:sp>
    </p:spTree>
    <p:extLst>
      <p:ext uri="{BB962C8B-B14F-4D97-AF65-F5344CB8AC3E}">
        <p14:creationId xmlns:p14="http://schemas.microsoft.com/office/powerpoint/2010/main" xmlns="" val="2614066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0F63E7-4C07-4633-B390-543E83666B5E}" type="slidenum">
              <a:rPr lang="en-US" smtClean="0"/>
              <a:pPr/>
              <a:t>17</a:t>
            </a:fld>
            <a:endParaRPr lang="en-US" dirty="0"/>
          </a:p>
        </p:txBody>
      </p:sp>
    </p:spTree>
    <p:extLst>
      <p:ext uri="{BB962C8B-B14F-4D97-AF65-F5344CB8AC3E}">
        <p14:creationId xmlns:p14="http://schemas.microsoft.com/office/powerpoint/2010/main" xmlns="" val="2046109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91540" y="1874977"/>
            <a:ext cx="10104120" cy="1293758"/>
          </a:xfrm>
        </p:spPr>
        <p:txBody>
          <a:bodyPr/>
          <a:lstStyle/>
          <a:p>
            <a:r>
              <a:rPr lang="en-US" smtClean="0"/>
              <a:t>Click to edit Master title style</a:t>
            </a:r>
            <a:endParaRPr lang="en-US"/>
          </a:p>
        </p:txBody>
      </p:sp>
      <p:sp>
        <p:nvSpPr>
          <p:cNvPr id="3" name="Subtitle 2"/>
          <p:cNvSpPr>
            <a:spLocks noGrp="1"/>
          </p:cNvSpPr>
          <p:nvPr>
            <p:ph type="subTitle" idx="1"/>
          </p:nvPr>
        </p:nvSpPr>
        <p:spPr>
          <a:xfrm>
            <a:off x="1783080" y="3420216"/>
            <a:ext cx="8321040" cy="1542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A07AC06-4FC2-4048-B4E3-461306F8443A}" type="datetime1">
              <a:rPr lang="en-US" smtClean="0"/>
              <a:pPr/>
              <a:t>6/9/2021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BA843D-D890-4412-ADD5-EB43AF18D827}" type="datetime1">
              <a:rPr lang="en-US" smtClean="0"/>
              <a:pPr/>
              <a:t>6/9/2021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39007" y="3878481"/>
            <a:ext cx="10104120" cy="1198752"/>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39007" y="2558178"/>
            <a:ext cx="10104120" cy="132030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B0C7194-C829-4AD5-939F-183F39E590F6}" type="datetime1">
              <a:rPr lang="en-US" smtClean="0"/>
              <a:pPr/>
              <a:t>6/9/2021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94360" y="1056246"/>
            <a:ext cx="5250180" cy="2987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042660" y="1056246"/>
            <a:ext cx="5250180" cy="2987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48460B-681D-45A3-9B29-0BB16F0EAC53}" type="datetime1">
              <a:rPr lang="en-US" smtClean="0"/>
              <a:pPr/>
              <a:t>6/9/2021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4360" y="241707"/>
            <a:ext cx="10698480" cy="1005946"/>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94360" y="1351042"/>
            <a:ext cx="5252244" cy="563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94360" y="1914092"/>
            <a:ext cx="5252244" cy="347749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038543" y="1351042"/>
            <a:ext cx="5254308" cy="563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038543" y="1914092"/>
            <a:ext cx="5254308" cy="347749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B84E226-AC5F-4904-BB34-57F671C44BED}" type="datetime1">
              <a:rPr lang="en-US" smtClean="0"/>
              <a:pPr/>
              <a:t>6/9/2021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9E897C-0FD6-4EA3-8BE0-2BCCE832AA8B}" type="datetime1">
              <a:rPr lang="en-US" smtClean="0"/>
              <a:pPr/>
              <a:t>6/9/2021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B208A3-3367-4CCA-87DA-92CBBA36FFEB}" type="datetime1">
              <a:rPr lang="en-US" smtClean="0"/>
              <a:pPr/>
              <a:t>6/9/2021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74" y="240309"/>
            <a:ext cx="3910807" cy="1022712"/>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647565" y="240315"/>
            <a:ext cx="6645275" cy="515128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94374" y="1263025"/>
            <a:ext cx="3910807" cy="412857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8F5F47-210E-4185-8864-171D57A08DE1}" type="datetime1">
              <a:rPr lang="en-US" smtClean="0"/>
              <a:pPr/>
              <a:t>6/9/2021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29974" y="4224974"/>
            <a:ext cx="7132320" cy="498783"/>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29974" y="539299"/>
            <a:ext cx="7132320" cy="362140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29974" y="4723759"/>
            <a:ext cx="7132320" cy="70835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90CD71-D244-4AFB-84D3-420E3940AD2A}" type="datetime1">
              <a:rPr lang="en-US" smtClean="0"/>
              <a:pPr/>
              <a:t>6/9/2021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887C62-3600-4557-8167-8BF058C503AD}" type="datetime1">
              <a:rPr lang="en-US" smtClean="0"/>
              <a:pPr/>
              <a:t>6/9/2021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18220" y="181632"/>
            <a:ext cx="2674620" cy="386171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94360" y="181632"/>
            <a:ext cx="7825740" cy="386171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6681C08-0A33-40F8-99BF-65996CEFDB86}" type="datetime1">
              <a:rPr lang="en-US" smtClean="0"/>
              <a:pPr/>
              <a:t>6/9/2021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94360" y="241707"/>
            <a:ext cx="10698480" cy="1005946"/>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94360" y="1408325"/>
            <a:ext cx="10698480" cy="398326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94360" y="5594178"/>
            <a:ext cx="2773680" cy="321344"/>
          </a:xfrm>
          <a:prstGeom prst="rect">
            <a:avLst/>
          </a:prstGeom>
        </p:spPr>
        <p:txBody>
          <a:bodyPr vert="horz" lIns="91440" tIns="45720" rIns="91440" bIns="45720" rtlCol="0" anchor="ctr"/>
          <a:lstStyle>
            <a:lvl1pPr algn="l">
              <a:defRPr sz="1200">
                <a:solidFill>
                  <a:schemeClr val="tx1">
                    <a:tint val="75000"/>
                  </a:schemeClr>
                </a:solidFill>
              </a:defRPr>
            </a:lvl1pPr>
          </a:lstStyle>
          <a:p>
            <a:fld id="{C8566DF2-1539-443E-BCFA-0200B17B94BF}" type="datetime1">
              <a:rPr lang="en-US" smtClean="0"/>
              <a:pPr/>
              <a:t>6/9/2021</a:t>
            </a:fld>
            <a:endParaRPr lang="en-US" dirty="0"/>
          </a:p>
        </p:txBody>
      </p:sp>
      <p:sp>
        <p:nvSpPr>
          <p:cNvPr id="5" name="Footer Placeholder 4"/>
          <p:cNvSpPr>
            <a:spLocks noGrp="1"/>
          </p:cNvSpPr>
          <p:nvPr>
            <p:ph type="ftr" sz="quarter" idx="3"/>
          </p:nvPr>
        </p:nvSpPr>
        <p:spPr>
          <a:xfrm>
            <a:off x="4061460" y="5594178"/>
            <a:ext cx="3764280" cy="3213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19160" y="5594178"/>
            <a:ext cx="2773680" cy="321344"/>
          </a:xfrm>
          <a:prstGeom prst="rect">
            <a:avLst/>
          </a:prstGeom>
        </p:spPr>
        <p:txBody>
          <a:bodyPr vert="horz" lIns="91440" tIns="45720" rIns="91440" bIns="45720" rtlCol="0" anchor="ctr"/>
          <a:lstStyle>
            <a:lvl1pPr algn="r">
              <a:defRPr sz="1800" b="1">
                <a:solidFill>
                  <a:schemeClr val="tx1">
                    <a:tint val="75000"/>
                  </a:schemeClr>
                </a:solidFill>
              </a:defRPr>
            </a:lvl1pPr>
          </a:lstStyle>
          <a:p>
            <a:r>
              <a:rPr lang="en-US" dirty="0" smtClean="0"/>
              <a:t>Page 1</a:t>
            </a:r>
            <a:endParaRPr lang="en-US" dirty="0"/>
          </a:p>
        </p:txBody>
      </p:sp>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ln w="11430">
                  <a:solidFill>
                    <a:schemeClr val="tx2">
                      <a:lumMod val="50000"/>
                    </a:schemeClr>
                  </a:solidFill>
                </a:ln>
                <a:effectLst>
                  <a:outerShdw blurRad="50800" dist="39000" dir="5460000" algn="tl">
                    <a:srgbClr val="000000">
                      <a:alpha val="38000"/>
                    </a:srgbClr>
                  </a:outerShdw>
                </a:effectLst>
              </a:rPr>
              <a:t> Confirmation of Supervisor</a:t>
            </a:r>
            <a:br>
              <a:rPr lang="en-US" sz="2400" b="1" dirty="0" smtClean="0">
                <a:ln w="11430">
                  <a:solidFill>
                    <a:schemeClr val="tx2">
                      <a:lumMod val="50000"/>
                    </a:schemeClr>
                  </a:solidFill>
                </a:ln>
                <a:effectLst>
                  <a:outerShdw blurRad="50800" dist="39000" dir="5460000" algn="tl">
                    <a:srgbClr val="000000">
                      <a:alpha val="38000"/>
                    </a:srgbClr>
                  </a:outerShdw>
                </a:effectLst>
              </a:rPr>
            </a:br>
            <a:endParaRPr lang="en-US" sz="2400" dirty="0"/>
          </a:p>
        </p:txBody>
      </p:sp>
      <p:pic>
        <p:nvPicPr>
          <p:cNvPr id="7" name="Content Placeholder 6" descr="Capture.PNG"/>
          <p:cNvPicPr>
            <a:picLocks noGrp="1" noChangeAspect="1"/>
          </p:cNvPicPr>
          <p:nvPr>
            <p:ph idx="1"/>
          </p:nvPr>
        </p:nvPicPr>
        <p:blipFill>
          <a:blip r:embed="rId2"/>
          <a:stretch>
            <a:fillRect/>
          </a:stretch>
        </p:blipFill>
        <p:spPr>
          <a:xfrm>
            <a:off x="983372" y="1408113"/>
            <a:ext cx="9920456" cy="3983037"/>
          </a:xfrm>
        </p:spPr>
      </p:pic>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603567"/>
            <a:ext cx="9707880" cy="1140072"/>
          </a:xfrm>
        </p:spPr>
        <p:style>
          <a:lnRef idx="1">
            <a:schemeClr val="dk1"/>
          </a:lnRef>
          <a:fillRef idx="2">
            <a:schemeClr val="dk1"/>
          </a:fillRef>
          <a:effectRef idx="1">
            <a:schemeClr val="dk1"/>
          </a:effectRef>
          <a:fontRef idx="minor">
            <a:schemeClr val="dk1"/>
          </a:fontRef>
        </p:style>
        <p:txBody>
          <a:bodyPr>
            <a:no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2800" b="1" dirty="0" smtClean="0">
                <a:ln w="11430">
                  <a:solidFill>
                    <a:schemeClr val="accent1"/>
                  </a:solidFill>
                </a:ln>
                <a:solidFill>
                  <a:schemeClr val="accent1"/>
                </a:solidFill>
                <a:effectLst>
                  <a:outerShdw blurRad="50800" dist="39000" dir="5460000" algn="tl">
                    <a:srgbClr val="000000">
                      <a:alpha val="38000"/>
                    </a:srgbClr>
                  </a:outerShdw>
                </a:effectLst>
              </a:rPr>
              <a:t>SMART HOME </a:t>
            </a:r>
            <a:r>
              <a:rPr lang="en-US" sz="3200" b="1" dirty="0" smtClean="0">
                <a:ln w="11430">
                  <a:solidFill>
                    <a:schemeClr val="accent1"/>
                  </a:solidFill>
                </a:ln>
                <a:solidFill>
                  <a:schemeClr val="accent1"/>
                </a:solidFill>
                <a:effectLst>
                  <a:outerShdw blurRad="50800" dist="39000" dir="5460000" algn="tl">
                    <a:srgbClr val="000000">
                      <a:alpha val="38000"/>
                    </a:srgbClr>
                  </a:outerShdw>
                </a:effectLst>
              </a:rPr>
              <a:t>:</a:t>
            </a:r>
            <a:r>
              <a:rPr lang="en-US" sz="3200" b="1" dirty="0" err="1" smtClean="0">
                <a:ln w="11430">
                  <a:solidFill>
                    <a:schemeClr val="accent1"/>
                  </a:solidFill>
                </a:ln>
                <a:solidFill>
                  <a:schemeClr val="accent1"/>
                </a:solidFill>
                <a:effectLst>
                  <a:outerShdw blurRad="50800" dist="39000" dir="5460000" algn="tl">
                    <a:srgbClr val="000000">
                      <a:alpha val="38000"/>
                    </a:srgbClr>
                  </a:outerShdw>
                </a:effectLst>
              </a:rPr>
              <a:t>Amader</a:t>
            </a:r>
            <a:r>
              <a:rPr lang="en-US" sz="3200" b="1" dirty="0" smtClean="0">
                <a:ln w="11430">
                  <a:solidFill>
                    <a:schemeClr val="accent1"/>
                  </a:solidFill>
                </a:ln>
                <a:solidFill>
                  <a:schemeClr val="accent1"/>
                </a:solidFill>
                <a:effectLst>
                  <a:outerShdw blurRad="50800" dist="39000" dir="5460000" algn="tl">
                    <a:srgbClr val="000000">
                      <a:alpha val="38000"/>
                    </a:srgbClr>
                  </a:outerShdw>
                </a:effectLst>
              </a:rPr>
              <a:t>  Adhunik Bari</a:t>
            </a:r>
            <a:endParaRPr lang="en-US" sz="3200" b="1" dirty="0">
              <a:ln w="11430">
                <a:solidFill>
                  <a:schemeClr val="accent1"/>
                </a:solidFill>
              </a:ln>
              <a:solidFill>
                <a:schemeClr val="accent1"/>
              </a:solidFill>
              <a:effectLst>
                <a:outerShdw blurRad="50800" dist="39000" dir="5460000" algn="tl">
                  <a:srgbClr val="000000">
                    <a:alpha val="38000"/>
                  </a:srgbClr>
                </a:outerShdw>
              </a:effectLst>
            </a:endParaRPr>
          </a:p>
        </p:txBody>
      </p:sp>
      <p:pic>
        <p:nvPicPr>
          <p:cNvPr id="4" name="Content Placeholder 3" descr="logo1.png"/>
          <p:cNvPicPr>
            <a:picLocks noGrp="1" noChangeAspect="1"/>
          </p:cNvPicPr>
          <p:nvPr>
            <p:ph idx="1"/>
          </p:nvPr>
        </p:nvPicPr>
        <p:blipFill>
          <a:blip r:embed="rId3"/>
          <a:stretch>
            <a:fillRect/>
          </a:stretch>
        </p:blipFill>
        <p:spPr>
          <a:xfrm>
            <a:off x="1089660" y="1810710"/>
            <a:ext cx="7726680" cy="3752737"/>
          </a:xfrm>
        </p:spPr>
      </p:pic>
      <p:sp>
        <p:nvSpPr>
          <p:cNvPr id="6" name="Slide Number Placeholder 5"/>
          <p:cNvSpPr>
            <a:spLocks noGrp="1"/>
          </p:cNvSpPr>
          <p:nvPr>
            <p:ph type="sldNum" sz="quarter" idx="12"/>
          </p:nvPr>
        </p:nvSpPr>
        <p:spPr/>
        <p:txBody>
          <a:bodyPr/>
          <a:lstStyle/>
          <a:p>
            <a:r>
              <a:rPr lang="en-US" sz="1500" dirty="0" smtClean="0"/>
              <a:t> </a:t>
            </a:r>
            <a:fld id="{B6F15528-21DE-4FAA-801E-634DDDAF4B2B}" type="slidenum">
              <a:rPr lang="en-US" sz="1500" b="1" smtClean="0"/>
              <a:pPr/>
              <a:t>2</a:t>
            </a:fld>
            <a:endParaRPr lang="en-US" sz="15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IUC%20LOGO"/>
          <p:cNvPicPr/>
          <p:nvPr/>
        </p:nvPicPr>
        <p:blipFill>
          <a:blip r:embed="rId2" cstate="print"/>
          <a:srcRect/>
          <a:stretch>
            <a:fillRect/>
          </a:stretch>
        </p:blipFill>
        <p:spPr bwMode="auto">
          <a:xfrm>
            <a:off x="9410714" y="201189"/>
            <a:ext cx="1870584" cy="1274198"/>
          </a:xfrm>
          <a:prstGeom prst="rect">
            <a:avLst/>
          </a:prstGeom>
          <a:noFill/>
          <a:ln w="9525">
            <a:noFill/>
            <a:miter lim="800000"/>
            <a:headEnd/>
            <a:tailEnd/>
          </a:ln>
        </p:spPr>
      </p:pic>
      <p:sp>
        <p:nvSpPr>
          <p:cNvPr id="3" name="Rectangle 2"/>
          <p:cNvSpPr/>
          <p:nvPr/>
        </p:nvSpPr>
        <p:spPr>
          <a:xfrm>
            <a:off x="198121" y="1475388"/>
            <a:ext cx="8519160" cy="1371930"/>
          </a:xfrm>
          <a:prstGeom prst="rect">
            <a:avLst/>
          </a:prstGeom>
        </p:spPr>
        <p:style>
          <a:lnRef idx="1">
            <a:schemeClr val="dk1"/>
          </a:lnRef>
          <a:fillRef idx="2">
            <a:schemeClr val="dk1"/>
          </a:fillRef>
          <a:effectRef idx="1">
            <a:schemeClr val="dk1"/>
          </a:effectRef>
          <a:fontRef idx="minor">
            <a:schemeClr val="dk1"/>
          </a:fontRef>
        </p:style>
        <p:txBody>
          <a:bodyPr wrap="square" lIns="78501" tIns="39251" rIns="78501" bIns="39251">
            <a:spAutoFit/>
          </a:bodyPr>
          <a:lstStyle/>
          <a:p>
            <a:r>
              <a:rPr lang="en" sz="2100" b="1" dirty="0" smtClean="0">
                <a:ln w="10541" cmpd="sng">
                  <a:solidFill>
                    <a:srgbClr val="7D7D7D">
                      <a:tint val="100000"/>
                      <a:shade val="100000"/>
                      <a:satMod val="110000"/>
                    </a:srgbClr>
                  </a:solidFill>
                  <a:prstDash val="solid"/>
                </a:ln>
                <a:solidFill>
                  <a:schemeClr val="bg2">
                    <a:lumMod val="10000"/>
                  </a:schemeClr>
                </a:solidFill>
              </a:rPr>
              <a:t>Supervised by:</a:t>
            </a:r>
            <a:br>
              <a:rPr lang="en" sz="2100" b="1" dirty="0" smtClean="0">
                <a:ln w="10541" cmpd="sng">
                  <a:solidFill>
                    <a:srgbClr val="7D7D7D">
                      <a:tint val="100000"/>
                      <a:shade val="100000"/>
                      <a:satMod val="110000"/>
                    </a:srgbClr>
                  </a:solidFill>
                  <a:prstDash val="solid"/>
                </a:ln>
                <a:solidFill>
                  <a:schemeClr val="bg2">
                    <a:lumMod val="10000"/>
                  </a:schemeClr>
                </a:solidFill>
              </a:rPr>
            </a:br>
            <a:r>
              <a:rPr lang="en" sz="2100" b="1" dirty="0" smtClean="0">
                <a:ln w="10541" cmpd="sng">
                  <a:solidFill>
                    <a:srgbClr val="7D7D7D">
                      <a:tint val="100000"/>
                      <a:shade val="100000"/>
                      <a:satMod val="110000"/>
                    </a:srgbClr>
                  </a:solidFill>
                  <a:prstDash val="solid"/>
                </a:ln>
                <a:solidFill>
                  <a:schemeClr val="bg2">
                    <a:lumMod val="10000"/>
                  </a:schemeClr>
                </a:solidFill>
              </a:rPr>
              <a:t>	</a:t>
            </a:r>
            <a:r>
              <a:rPr lang="en-US" sz="2100" b="1" dirty="0" smtClean="0">
                <a:ln w="10541" cmpd="sng">
                  <a:solidFill>
                    <a:srgbClr val="7D7D7D">
                      <a:tint val="100000"/>
                      <a:shade val="100000"/>
                      <a:satMod val="110000"/>
                    </a:srgbClr>
                  </a:solidFill>
                  <a:prstDash val="solid"/>
                </a:ln>
                <a:solidFill>
                  <a:schemeClr val="bg2">
                    <a:lumMod val="10000"/>
                  </a:schemeClr>
                </a:solidFill>
              </a:rPr>
              <a:t>Mohammed Mahmudur Rahman</a:t>
            </a:r>
            <a:br>
              <a:rPr lang="en-US" sz="2100" b="1" dirty="0" smtClean="0">
                <a:ln w="10541" cmpd="sng">
                  <a:solidFill>
                    <a:srgbClr val="7D7D7D">
                      <a:tint val="100000"/>
                      <a:shade val="100000"/>
                      <a:satMod val="110000"/>
                    </a:srgbClr>
                  </a:solidFill>
                  <a:prstDash val="solid"/>
                </a:ln>
                <a:solidFill>
                  <a:schemeClr val="bg2">
                    <a:lumMod val="10000"/>
                  </a:schemeClr>
                </a:solidFill>
              </a:rPr>
            </a:br>
            <a:r>
              <a:rPr lang="en-US" sz="2100" b="1" dirty="0" smtClean="0">
                <a:ln w="10541" cmpd="sng">
                  <a:solidFill>
                    <a:srgbClr val="7D7D7D">
                      <a:tint val="100000"/>
                      <a:shade val="100000"/>
                      <a:satMod val="110000"/>
                    </a:srgbClr>
                  </a:solidFill>
                  <a:prstDash val="solid"/>
                </a:ln>
                <a:solidFill>
                  <a:schemeClr val="bg2">
                    <a:lumMod val="10000"/>
                  </a:schemeClr>
                </a:solidFill>
              </a:rPr>
              <a:t>	Assistant Professor,</a:t>
            </a:r>
            <a:br>
              <a:rPr lang="en-US" sz="2100" b="1" dirty="0" smtClean="0">
                <a:ln w="10541" cmpd="sng">
                  <a:solidFill>
                    <a:srgbClr val="7D7D7D">
                      <a:tint val="100000"/>
                      <a:shade val="100000"/>
                      <a:satMod val="110000"/>
                    </a:srgbClr>
                  </a:solidFill>
                  <a:prstDash val="solid"/>
                </a:ln>
                <a:solidFill>
                  <a:schemeClr val="bg2">
                    <a:lumMod val="10000"/>
                  </a:schemeClr>
                </a:solidFill>
              </a:rPr>
            </a:br>
            <a:r>
              <a:rPr lang="en-US" sz="2100" b="1" dirty="0" smtClean="0">
                <a:ln w="10541" cmpd="sng">
                  <a:solidFill>
                    <a:srgbClr val="7D7D7D">
                      <a:tint val="100000"/>
                      <a:shade val="100000"/>
                      <a:satMod val="110000"/>
                    </a:srgbClr>
                  </a:solidFill>
                  <a:prstDash val="solid"/>
                </a:ln>
                <a:solidFill>
                  <a:schemeClr val="bg2">
                    <a:lumMod val="10000"/>
                  </a:schemeClr>
                </a:solidFill>
              </a:rPr>
              <a:t>	Department of CSE, IIUC</a:t>
            </a:r>
            <a:endParaRPr lang="en-US" sz="2100" b="1" dirty="0">
              <a:ln w="10541" cmpd="sng">
                <a:solidFill>
                  <a:srgbClr val="7D7D7D">
                    <a:tint val="100000"/>
                    <a:shade val="100000"/>
                    <a:satMod val="110000"/>
                  </a:srgbClr>
                </a:solidFill>
                <a:prstDash val="solid"/>
              </a:ln>
              <a:solidFill>
                <a:schemeClr val="bg2">
                  <a:lumMod val="10000"/>
                </a:schemeClr>
              </a:solidFill>
            </a:endParaRPr>
          </a:p>
        </p:txBody>
      </p:sp>
      <p:sp>
        <p:nvSpPr>
          <p:cNvPr id="4" name="Rectangle 3"/>
          <p:cNvSpPr/>
          <p:nvPr/>
        </p:nvSpPr>
        <p:spPr>
          <a:xfrm>
            <a:off x="1287780" y="3487284"/>
            <a:ext cx="9806940" cy="1571985"/>
          </a:xfrm>
          <a:prstGeom prst="rect">
            <a:avLst/>
          </a:prstGeom>
        </p:spPr>
        <p:style>
          <a:lnRef idx="1">
            <a:schemeClr val="dk1"/>
          </a:lnRef>
          <a:fillRef idx="2">
            <a:schemeClr val="dk1"/>
          </a:fillRef>
          <a:effectRef idx="1">
            <a:schemeClr val="dk1"/>
          </a:effectRef>
          <a:fontRef idx="minor">
            <a:schemeClr val="dk1"/>
          </a:fontRef>
        </p:style>
        <p:txBody>
          <a:bodyPr wrap="square" lIns="78501" tIns="39251" rIns="78501" bIns="39251">
            <a:spAutoFit/>
          </a:bodyPr>
          <a:lstStyle/>
          <a:p>
            <a:r>
              <a:rPr lang="en-US" sz="2100" dirty="0" smtClean="0">
                <a:ln>
                  <a:solidFill>
                    <a:schemeClr val="tx1"/>
                  </a:solidFill>
                </a:ln>
                <a:solidFill>
                  <a:schemeClr val="bg2">
                    <a:lumMod val="10000"/>
                  </a:schemeClr>
                </a:solidFill>
              </a:rPr>
              <a:t>Presented by:</a:t>
            </a:r>
          </a:p>
          <a:p>
            <a:r>
              <a:rPr lang="en-US" sz="2100" dirty="0" smtClean="0">
                <a:ln>
                  <a:solidFill>
                    <a:schemeClr val="tx1"/>
                  </a:solidFill>
                </a:ln>
                <a:solidFill>
                  <a:schemeClr val="bg2">
                    <a:lumMod val="10000"/>
                  </a:schemeClr>
                </a:solidFill>
              </a:rPr>
              <a:t/>
            </a:r>
            <a:br>
              <a:rPr lang="en-US" sz="2100" dirty="0" smtClean="0">
                <a:ln>
                  <a:solidFill>
                    <a:schemeClr val="tx1"/>
                  </a:solidFill>
                </a:ln>
                <a:solidFill>
                  <a:schemeClr val="bg2">
                    <a:lumMod val="10000"/>
                  </a:schemeClr>
                </a:solidFill>
              </a:rPr>
            </a:br>
            <a:r>
              <a:rPr lang="en-US" sz="2100" dirty="0" smtClean="0">
                <a:ln>
                  <a:solidFill>
                    <a:schemeClr val="tx1"/>
                  </a:solidFill>
                </a:ln>
                <a:solidFill>
                  <a:schemeClr val="bg2">
                    <a:lumMod val="10000"/>
                  </a:schemeClr>
                </a:solidFill>
              </a:rPr>
              <a:t>          </a:t>
            </a:r>
            <a:r>
              <a:rPr lang="en-US" sz="1700" dirty="0" smtClean="0">
                <a:ln>
                  <a:solidFill>
                    <a:schemeClr val="tx1"/>
                  </a:solidFill>
                </a:ln>
                <a:solidFill>
                  <a:schemeClr val="bg2">
                    <a:lumMod val="10000"/>
                  </a:schemeClr>
                </a:solidFill>
              </a:rPr>
              <a:t>Kawsar Uddin Ahmed	            Avishek Palit</a:t>
            </a:r>
          </a:p>
          <a:p>
            <a:r>
              <a:rPr lang="en-US" sz="1700" dirty="0" smtClean="0">
                <a:ln>
                  <a:solidFill>
                    <a:schemeClr val="tx1"/>
                  </a:solidFill>
                </a:ln>
                <a:solidFill>
                  <a:schemeClr val="bg2">
                    <a:lumMod val="10000"/>
                  </a:schemeClr>
                </a:solidFill>
              </a:rPr>
              <a:t>            </a:t>
            </a:r>
            <a:r>
              <a:rPr lang="en-US" sz="1700" b="1" dirty="0" smtClean="0">
                <a:ln>
                  <a:solidFill>
                    <a:schemeClr val="tx1"/>
                  </a:solidFill>
                </a:ln>
                <a:solidFill>
                  <a:schemeClr val="bg2">
                    <a:lumMod val="10000"/>
                  </a:schemeClr>
                </a:solidFill>
                <a:latin typeface="Times New Roman" panose="02020603050405020304" pitchFamily="18" charset="0"/>
                <a:cs typeface="Times New Roman" panose="02020603050405020304" pitchFamily="18" charset="0"/>
              </a:rPr>
              <a:t>C161001</a:t>
            </a:r>
            <a:r>
              <a:rPr lang="en-US" sz="1700" dirty="0" smtClean="0">
                <a:ln>
                  <a:solidFill>
                    <a:schemeClr val="tx1"/>
                  </a:solidFill>
                </a:ln>
                <a:solidFill>
                  <a:schemeClr val="bg2">
                    <a:lumMod val="10000"/>
                  </a:schemeClr>
                </a:solidFill>
              </a:rPr>
              <a:t>		                         </a:t>
            </a:r>
            <a:r>
              <a:rPr lang="en-US" sz="1700" b="1" dirty="0" smtClean="0">
                <a:ln>
                  <a:solidFill>
                    <a:schemeClr val="tx1"/>
                  </a:solidFill>
                </a:ln>
                <a:solidFill>
                  <a:schemeClr val="bg2">
                    <a:lumMod val="10000"/>
                  </a:schemeClr>
                </a:solidFill>
                <a:latin typeface="Times New Roman" panose="02020603050405020304" pitchFamily="18" charset="0"/>
                <a:cs typeface="Times New Roman" panose="02020603050405020304" pitchFamily="18" charset="0"/>
              </a:rPr>
              <a:t>C161020</a:t>
            </a:r>
            <a:r>
              <a:rPr lang="en-US" sz="1700" dirty="0" smtClean="0">
                <a:ln>
                  <a:solidFill>
                    <a:schemeClr val="tx1"/>
                  </a:solidFill>
                </a:ln>
                <a:solidFill>
                  <a:schemeClr val="bg2">
                    <a:lumMod val="10000"/>
                  </a:schemeClr>
                </a:solidFill>
              </a:rPr>
              <a:t/>
            </a:r>
            <a:br>
              <a:rPr lang="en-US" sz="1700" dirty="0" smtClean="0">
                <a:ln>
                  <a:solidFill>
                    <a:schemeClr val="tx1"/>
                  </a:solidFill>
                </a:ln>
                <a:solidFill>
                  <a:schemeClr val="bg2">
                    <a:lumMod val="10000"/>
                  </a:schemeClr>
                </a:solidFill>
              </a:rPr>
            </a:br>
            <a:r>
              <a:rPr lang="en-US" sz="1700" dirty="0" smtClean="0">
                <a:ln>
                  <a:solidFill>
                    <a:schemeClr val="tx1"/>
                  </a:solidFill>
                </a:ln>
                <a:solidFill>
                  <a:schemeClr val="bg2">
                    <a:lumMod val="10000"/>
                  </a:schemeClr>
                </a:solidFill>
              </a:rPr>
              <a:t>                     Department of CSE, IIUC.</a:t>
            </a:r>
            <a:endParaRPr lang="en-US" dirty="0">
              <a:ln>
                <a:solidFill>
                  <a:schemeClr val="tx1"/>
                </a:solidFill>
              </a:ln>
              <a:solidFill>
                <a:schemeClr val="bg2">
                  <a:lumMod val="10000"/>
                </a:scheme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scene3d>
              <a:camera prst="orthographicFront"/>
              <a:lightRig rig="flat" dir="tl">
                <a:rot lat="0" lon="0" rev="6600000"/>
              </a:lightRig>
            </a:scene3d>
            <a:sp3d extrusionH="25400" contourW="8890">
              <a:bevelT w="38100" h="31750"/>
              <a:contourClr>
                <a:schemeClr val="accent2">
                  <a:shade val="75000"/>
                </a:schemeClr>
              </a:contourClr>
            </a:sp3d>
          </a:bodyPr>
          <a:lstStyle/>
          <a:p>
            <a:pPr lvl="0" algn="ctr"/>
            <a:r>
              <a:rPr lang="en-US" sz="2700" b="1" cap="none" dirty="0" smtClean="0">
                <a:ln w="11430">
                  <a:solidFill>
                    <a:schemeClr val="tx2">
                      <a:lumMod val="50000"/>
                    </a:schemeClr>
                  </a:solidFill>
                </a:ln>
                <a:effectLst>
                  <a:outerShdw blurRad="50800" dist="39000" dir="5460000" algn="tl">
                    <a:srgbClr val="000000">
                      <a:alpha val="38000"/>
                    </a:srgbClr>
                  </a:outerShdw>
                </a:effectLst>
              </a:rPr>
              <a:t>          TABLE OF CONTENTS</a:t>
            </a:r>
            <a:br>
              <a:rPr lang="en-US" sz="2700" b="1" cap="none" dirty="0" smtClean="0">
                <a:ln w="11430">
                  <a:solidFill>
                    <a:schemeClr val="tx2">
                      <a:lumMod val="50000"/>
                    </a:schemeClr>
                  </a:solidFill>
                </a:ln>
                <a:effectLst>
                  <a:outerShdw blurRad="50800" dist="39000" dir="5460000" algn="tl">
                    <a:srgbClr val="000000">
                      <a:alpha val="38000"/>
                    </a:srgbClr>
                  </a:outerShdw>
                </a:effectLst>
              </a:rPr>
            </a:br>
            <a:endParaRPr lang="en-US" sz="2700" b="1" cap="none" dirty="0">
              <a:ln w="11430">
                <a:solidFill>
                  <a:schemeClr val="tx2">
                    <a:lumMod val="50000"/>
                  </a:schemeClr>
                </a:solidFill>
              </a:ln>
              <a:effectLst>
                <a:outerShdw blurRad="50800" dist="39000" dir="5460000" algn="tl">
                  <a:srgbClr val="000000">
                    <a:alpha val="38000"/>
                  </a:srgbClr>
                </a:outerShdw>
              </a:effectLst>
            </a:endParaRPr>
          </a:p>
        </p:txBody>
      </p:sp>
      <p:sp>
        <p:nvSpPr>
          <p:cNvPr id="4" name="Content Placeholder 3"/>
          <p:cNvSpPr>
            <a:spLocks noGrp="1"/>
          </p:cNvSpPr>
          <p:nvPr>
            <p:ph sz="half" idx="1"/>
          </p:nvPr>
        </p:nvSpPr>
        <p:spPr>
          <a:xfrm>
            <a:off x="0" y="1"/>
            <a:ext cx="2674620" cy="6035675"/>
          </a:xfrm>
          <a:ln/>
        </p:spPr>
        <p:style>
          <a:lnRef idx="1">
            <a:schemeClr val="dk1"/>
          </a:lnRef>
          <a:fillRef idx="2">
            <a:schemeClr val="dk1"/>
          </a:fillRef>
          <a:effectRef idx="1">
            <a:schemeClr val="dk1"/>
          </a:effectRef>
          <a:fontRef idx="minor">
            <a:schemeClr val="dk1"/>
          </a:fontRef>
        </p:style>
        <p:txBody>
          <a:bodyPr>
            <a:normAutofit fontScale="85000" lnSpcReduction="20000"/>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endParaRPr lang="en-US"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a:p>
            <a:pPr algn="ctr"/>
            <a:endParaRPr lang="en-US"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a:p>
            <a:pPr algn="ctr">
              <a:buNone/>
            </a:pPr>
            <a:endParaRPr lang="en-US" sz="1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a:p>
            <a:pPr algn="ctr">
              <a:buNone/>
            </a:pPr>
            <a:endPar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endParaRPr>
          </a:p>
          <a:p>
            <a:pPr algn="ctr">
              <a:buNone/>
            </a:pPr>
            <a:r>
              <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rPr>
              <a:t>01</a:t>
            </a:r>
          </a:p>
          <a:p>
            <a:pPr algn="ctr">
              <a:buNone/>
            </a:pPr>
            <a:endPar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endParaRPr>
          </a:p>
          <a:p>
            <a:pPr algn="ctr">
              <a:buNone/>
            </a:pPr>
            <a:r>
              <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rPr>
              <a:t>02</a:t>
            </a:r>
          </a:p>
          <a:p>
            <a:pPr algn="ctr">
              <a:buNone/>
            </a:pPr>
            <a:endPar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endParaRPr>
          </a:p>
          <a:p>
            <a:pPr algn="ctr">
              <a:buNone/>
            </a:pPr>
            <a:r>
              <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rPr>
              <a:t>03</a:t>
            </a:r>
          </a:p>
          <a:p>
            <a:pPr algn="ctr">
              <a:buNone/>
            </a:pPr>
            <a:endPar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endParaRPr>
          </a:p>
          <a:p>
            <a:pPr algn="ctr">
              <a:buNone/>
            </a:pPr>
            <a:r>
              <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rPr>
              <a:t>04</a:t>
            </a:r>
          </a:p>
          <a:p>
            <a:pPr algn="ctr">
              <a:buNone/>
            </a:pPr>
            <a:endPar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endParaRPr>
          </a:p>
          <a:p>
            <a:pPr algn="ctr">
              <a:buNone/>
            </a:pPr>
            <a:r>
              <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rPr>
              <a:t>05</a:t>
            </a:r>
          </a:p>
          <a:p>
            <a:pPr algn="ctr">
              <a:buNone/>
            </a:pPr>
            <a:endPar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endParaRPr>
          </a:p>
          <a:p>
            <a:pPr algn="ctr">
              <a:buNone/>
            </a:pPr>
            <a:r>
              <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rPr>
              <a:t>06</a:t>
            </a:r>
          </a:p>
          <a:p>
            <a:pPr algn="ctr">
              <a:buNone/>
            </a:pPr>
            <a:endPar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endParaRPr>
          </a:p>
          <a:p>
            <a:pPr algn="ctr">
              <a:buNone/>
            </a:pPr>
            <a:r>
              <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rPr>
              <a:t>07</a:t>
            </a:r>
          </a:p>
          <a:p>
            <a:pPr algn="ctr">
              <a:buNone/>
            </a:pPr>
            <a:endPar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endParaRPr>
          </a:p>
          <a:p>
            <a:pPr algn="ctr">
              <a:buNone/>
            </a:pPr>
            <a:r>
              <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rPr>
              <a:t>08</a:t>
            </a:r>
          </a:p>
          <a:p>
            <a:pPr algn="ctr">
              <a:buNone/>
            </a:pPr>
            <a:endPar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endParaRPr>
          </a:p>
          <a:p>
            <a:pPr algn="ctr">
              <a:buNone/>
            </a:pPr>
            <a:r>
              <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rPr>
              <a:t>09</a:t>
            </a:r>
          </a:p>
          <a:p>
            <a:pPr algn="ctr">
              <a:buNone/>
            </a:pPr>
            <a:endPar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endParaRPr>
          </a:p>
          <a:p>
            <a:pPr algn="ctr">
              <a:buNone/>
            </a:pPr>
            <a:r>
              <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rPr>
              <a:t>10</a:t>
            </a:r>
          </a:p>
          <a:p>
            <a:pPr algn="ctr">
              <a:buNone/>
            </a:pPr>
            <a:endParaRPr lang="en-US" sz="1600" b="1" dirty="0" smtClean="0">
              <a:ln w="11430">
                <a:solidFill>
                  <a:schemeClr val="tx1"/>
                </a:solidFill>
              </a:ln>
              <a:solidFill>
                <a:schemeClr val="tx2">
                  <a:lumMod val="50000"/>
                </a:schemeClr>
              </a:solidFill>
              <a:effectLst>
                <a:outerShdw blurRad="50800" dist="39000" dir="5460000" algn="tl">
                  <a:srgbClr val="000000">
                    <a:alpha val="38000"/>
                  </a:srgbClr>
                </a:outerShdw>
              </a:effectLst>
            </a:endParaRPr>
          </a:p>
        </p:txBody>
      </p:sp>
      <p:sp>
        <p:nvSpPr>
          <p:cNvPr id="5" name="Content Placeholder 4"/>
          <p:cNvSpPr>
            <a:spLocks noGrp="1"/>
          </p:cNvSpPr>
          <p:nvPr>
            <p:ph sz="half" idx="2"/>
          </p:nvPr>
        </p:nvSpPr>
        <p:spPr>
          <a:xfrm>
            <a:off x="3467102" y="1189038"/>
            <a:ext cx="6839102" cy="4243070"/>
          </a:xfrm>
        </p:spPr>
        <p:txBody>
          <a:bodyPr>
            <a:normAutofit fontScale="85000" lnSpcReduction="20000"/>
          </a:bodyPr>
          <a:lstStyle/>
          <a:p>
            <a:pPr>
              <a:buNone/>
            </a:pPr>
            <a:r>
              <a:rPr lang="en-US" sz="1600" b="1" dirty="0" smtClean="0">
                <a:ln w="1905">
                  <a:solidFill>
                    <a:schemeClr val="tx1"/>
                  </a:solidFill>
                </a:ln>
                <a:effectLst>
                  <a:innerShdw blurRad="69850" dist="43180" dir="5400000">
                    <a:srgbClr val="000000">
                      <a:alpha val="65000"/>
                    </a:srgbClr>
                  </a:innerShdw>
                </a:effectLst>
              </a:rPr>
              <a:t>Introduction</a:t>
            </a:r>
          </a:p>
          <a:p>
            <a:pPr>
              <a:buNone/>
            </a:pPr>
            <a:endParaRPr lang="en-US" sz="1600" b="1" dirty="0" smtClean="0">
              <a:ln w="1905">
                <a:solidFill>
                  <a:schemeClr val="tx1"/>
                </a:solidFill>
              </a:ln>
              <a:effectLst>
                <a:innerShdw blurRad="69850" dist="43180" dir="5400000">
                  <a:srgbClr val="000000">
                    <a:alpha val="65000"/>
                  </a:srgbClr>
                </a:innerShdw>
              </a:effectLst>
            </a:endParaRPr>
          </a:p>
          <a:p>
            <a:pPr>
              <a:buNone/>
            </a:pPr>
            <a:r>
              <a:rPr lang="en-US" sz="1600" b="1" dirty="0" smtClean="0">
                <a:ln w="1905">
                  <a:solidFill>
                    <a:schemeClr val="tx1"/>
                  </a:solidFill>
                </a:ln>
                <a:effectLst>
                  <a:innerShdw blurRad="69850" dist="43180" dir="5400000">
                    <a:srgbClr val="000000">
                      <a:alpha val="65000"/>
                    </a:srgbClr>
                  </a:innerShdw>
                </a:effectLst>
              </a:rPr>
              <a:t>Background of the study</a:t>
            </a:r>
          </a:p>
          <a:p>
            <a:pPr>
              <a:buNone/>
            </a:pPr>
            <a:endParaRPr lang="en-US" sz="1600" b="1" dirty="0" smtClean="0">
              <a:ln w="1905">
                <a:solidFill>
                  <a:schemeClr val="tx1"/>
                </a:solidFill>
              </a:ln>
              <a:effectLst>
                <a:innerShdw blurRad="69850" dist="43180" dir="5400000">
                  <a:srgbClr val="000000">
                    <a:alpha val="65000"/>
                  </a:srgbClr>
                </a:innerShdw>
              </a:effectLst>
            </a:endParaRPr>
          </a:p>
          <a:p>
            <a:pPr>
              <a:buNone/>
            </a:pPr>
            <a:r>
              <a:rPr lang="en-US" sz="1600" b="1" dirty="0" smtClean="0">
                <a:ln w="1905">
                  <a:solidFill>
                    <a:schemeClr val="tx1"/>
                  </a:solidFill>
                </a:ln>
                <a:effectLst>
                  <a:innerShdw blurRad="69850" dist="43180" dir="5400000">
                    <a:srgbClr val="000000">
                      <a:alpha val="65000"/>
                    </a:srgbClr>
                  </a:innerShdw>
                </a:effectLst>
              </a:rPr>
              <a:t>Problem statements</a:t>
            </a:r>
          </a:p>
          <a:p>
            <a:pPr>
              <a:buNone/>
            </a:pPr>
            <a:endParaRPr lang="en-US" sz="1600" b="1" dirty="0" smtClean="0">
              <a:ln w="1905">
                <a:solidFill>
                  <a:schemeClr val="tx1"/>
                </a:solidFill>
              </a:ln>
              <a:effectLst>
                <a:innerShdw blurRad="69850" dist="43180" dir="5400000">
                  <a:srgbClr val="000000">
                    <a:alpha val="65000"/>
                  </a:srgbClr>
                </a:innerShdw>
              </a:effectLst>
            </a:endParaRPr>
          </a:p>
          <a:p>
            <a:pPr>
              <a:buNone/>
            </a:pPr>
            <a:r>
              <a:rPr lang="en-US" sz="1600" b="1" dirty="0" smtClean="0">
                <a:ln w="1905">
                  <a:solidFill>
                    <a:schemeClr val="tx1"/>
                  </a:solidFill>
                </a:ln>
                <a:effectLst>
                  <a:innerShdw blurRad="69850" dist="43180" dir="5400000">
                    <a:srgbClr val="000000">
                      <a:alpha val="65000"/>
                    </a:srgbClr>
                  </a:innerShdw>
                </a:effectLst>
              </a:rPr>
              <a:t>Literature Review/Review of existing work</a:t>
            </a:r>
          </a:p>
          <a:p>
            <a:pPr>
              <a:buNone/>
            </a:pPr>
            <a:endParaRPr lang="en-US" sz="1600" b="1" dirty="0" smtClean="0">
              <a:ln w="1905">
                <a:solidFill>
                  <a:schemeClr val="tx1"/>
                </a:solidFill>
              </a:ln>
              <a:effectLst>
                <a:innerShdw blurRad="69850" dist="43180" dir="5400000">
                  <a:srgbClr val="000000">
                    <a:alpha val="65000"/>
                  </a:srgbClr>
                </a:innerShdw>
              </a:effectLst>
            </a:endParaRPr>
          </a:p>
          <a:p>
            <a:pPr>
              <a:buNone/>
            </a:pPr>
            <a:r>
              <a:rPr lang="en-US" sz="1600" b="1" dirty="0" smtClean="0">
                <a:ln w="1905">
                  <a:solidFill>
                    <a:schemeClr val="tx1"/>
                  </a:solidFill>
                </a:ln>
                <a:effectLst>
                  <a:innerShdw blurRad="69850" dist="43180" dir="5400000">
                    <a:srgbClr val="000000">
                      <a:alpha val="65000"/>
                    </a:srgbClr>
                  </a:innerShdw>
                </a:effectLst>
              </a:rPr>
              <a:t>Objectives</a:t>
            </a:r>
          </a:p>
          <a:p>
            <a:pPr>
              <a:buNone/>
            </a:pPr>
            <a:endParaRPr lang="en-US" sz="1600" b="1" dirty="0" smtClean="0">
              <a:ln w="1905">
                <a:solidFill>
                  <a:schemeClr val="tx1"/>
                </a:solidFill>
              </a:ln>
              <a:effectLst>
                <a:innerShdw blurRad="69850" dist="43180" dir="5400000">
                  <a:srgbClr val="000000">
                    <a:alpha val="65000"/>
                  </a:srgbClr>
                </a:innerShdw>
              </a:effectLst>
            </a:endParaRPr>
          </a:p>
          <a:p>
            <a:pPr>
              <a:buNone/>
            </a:pPr>
            <a:r>
              <a:rPr lang="en-US" sz="1600" b="1" dirty="0" smtClean="0">
                <a:ln w="1905">
                  <a:solidFill>
                    <a:schemeClr val="tx1"/>
                  </a:solidFill>
                </a:ln>
                <a:effectLst>
                  <a:innerShdw blurRad="69850" dist="43180" dir="5400000">
                    <a:srgbClr val="000000">
                      <a:alpha val="65000"/>
                    </a:srgbClr>
                  </a:innerShdw>
                </a:effectLst>
              </a:rPr>
              <a:t>Methodology/Approach</a:t>
            </a:r>
          </a:p>
          <a:p>
            <a:pPr>
              <a:buNone/>
            </a:pPr>
            <a:endParaRPr lang="en-US" sz="1600" b="1" dirty="0" smtClean="0">
              <a:ln w="1905">
                <a:solidFill>
                  <a:schemeClr val="tx1"/>
                </a:solidFill>
              </a:ln>
              <a:effectLst>
                <a:innerShdw blurRad="69850" dist="43180" dir="5400000">
                  <a:srgbClr val="000000">
                    <a:alpha val="65000"/>
                  </a:srgbClr>
                </a:innerShdw>
              </a:effectLst>
            </a:endParaRPr>
          </a:p>
          <a:p>
            <a:pPr>
              <a:buNone/>
            </a:pPr>
            <a:r>
              <a:rPr lang="en-US" sz="1600" b="1" dirty="0" smtClean="0">
                <a:ln w="1905">
                  <a:solidFill>
                    <a:schemeClr val="tx1"/>
                  </a:solidFill>
                </a:ln>
                <a:effectLst>
                  <a:innerShdw blurRad="69850" dist="43180" dir="5400000">
                    <a:srgbClr val="000000">
                      <a:alpha val="65000"/>
                    </a:srgbClr>
                  </a:innerShdw>
                </a:effectLst>
              </a:rPr>
              <a:t>System Implementation</a:t>
            </a:r>
          </a:p>
          <a:p>
            <a:pPr>
              <a:buNone/>
            </a:pPr>
            <a:endParaRPr lang="en-US" sz="1600" b="1" dirty="0" smtClean="0">
              <a:ln w="1905">
                <a:solidFill>
                  <a:schemeClr val="tx1"/>
                </a:solidFill>
              </a:ln>
              <a:effectLst>
                <a:innerShdw blurRad="69850" dist="43180" dir="5400000">
                  <a:srgbClr val="000000">
                    <a:alpha val="65000"/>
                  </a:srgbClr>
                </a:innerShdw>
              </a:effectLst>
            </a:endParaRPr>
          </a:p>
          <a:p>
            <a:pPr>
              <a:buNone/>
            </a:pPr>
            <a:r>
              <a:rPr lang="en-US" sz="1600" b="1" dirty="0" smtClean="0">
                <a:ln w="1905">
                  <a:solidFill>
                    <a:schemeClr val="tx1"/>
                  </a:solidFill>
                </a:ln>
                <a:effectLst>
                  <a:innerShdw blurRad="69850" dist="43180" dir="5400000">
                    <a:srgbClr val="000000">
                      <a:alpha val="65000"/>
                    </a:srgbClr>
                  </a:innerShdw>
                </a:effectLst>
              </a:rPr>
              <a:t>Result Analysis </a:t>
            </a:r>
          </a:p>
          <a:p>
            <a:pPr>
              <a:buNone/>
            </a:pPr>
            <a:endParaRPr lang="en-US" sz="1600" b="1" dirty="0" smtClean="0">
              <a:ln w="1905">
                <a:solidFill>
                  <a:schemeClr val="tx1"/>
                </a:solidFill>
              </a:ln>
              <a:effectLst>
                <a:innerShdw blurRad="69850" dist="43180" dir="5400000">
                  <a:srgbClr val="000000">
                    <a:alpha val="65000"/>
                  </a:srgbClr>
                </a:innerShdw>
              </a:effectLst>
            </a:endParaRPr>
          </a:p>
          <a:p>
            <a:pPr>
              <a:buNone/>
            </a:pPr>
            <a:r>
              <a:rPr lang="en-US" sz="1600" b="1" dirty="0" smtClean="0">
                <a:ln w="1905">
                  <a:solidFill>
                    <a:schemeClr val="tx1"/>
                  </a:solidFill>
                </a:ln>
                <a:effectLst>
                  <a:innerShdw blurRad="69850" dist="43180" dir="5400000">
                    <a:srgbClr val="000000">
                      <a:alpha val="65000"/>
                    </a:srgbClr>
                  </a:innerShdw>
                </a:effectLst>
              </a:rPr>
              <a:t>Discussion</a:t>
            </a:r>
          </a:p>
          <a:p>
            <a:pPr>
              <a:buNone/>
            </a:pPr>
            <a:endParaRPr lang="en-US" sz="1600" b="1" dirty="0" smtClean="0">
              <a:ln w="1905">
                <a:solidFill>
                  <a:schemeClr val="bg2">
                    <a:lumMod val="10000"/>
                  </a:schemeClr>
                </a:solidFill>
              </a:ln>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a:p>
            <a:pPr>
              <a:buNone/>
            </a:pPr>
            <a:r>
              <a:rPr lang="en-US" sz="1600" b="1" dirty="0" smtClean="0">
                <a:ln w="1905">
                  <a:solidFill>
                    <a:schemeClr val="tx1"/>
                  </a:solidFill>
                </a:ln>
                <a:effectLst>
                  <a:innerShdw blurRad="69850" dist="43180" dir="5400000">
                    <a:srgbClr val="000000">
                      <a:alpha val="65000"/>
                    </a:srgbClr>
                  </a:innerShdw>
                </a:effectLst>
              </a:rPr>
              <a:t>Conclusion</a:t>
            </a:r>
          </a:p>
          <a:p>
            <a:pPr>
              <a:buNone/>
            </a:pPr>
            <a:endParaRPr lang="en-US" sz="1600" b="1" dirty="0" smtClean="0">
              <a:ln w="1905">
                <a:solidFill>
                  <a:schemeClr val="bg2">
                    <a:lumMod val="10000"/>
                  </a:schemeClr>
                </a:solidFill>
              </a:ln>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a:p>
            <a:pPr>
              <a:buNone/>
            </a:pPr>
            <a:endParaRPr lang="en-US" sz="1600" b="1" dirty="0" smtClean="0">
              <a:ln w="1905">
                <a:solidFill>
                  <a:schemeClr val="bg2">
                    <a:lumMod val="10000"/>
                  </a:schemeClr>
                </a:solidFill>
              </a:ln>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a:p>
            <a:pPr>
              <a:buNone/>
            </a:pPr>
            <a:endParaRPr lang="en-US" sz="1600" dirty="0" smtClean="0">
              <a:ln w="1905">
                <a:solidFill>
                  <a:schemeClr val="bg2">
                    <a:lumMod val="10000"/>
                  </a:schemeClr>
                </a:solidFill>
              </a:ln>
            </a:endParaRPr>
          </a:p>
          <a:p>
            <a:endParaRPr lang="en-US" dirty="0">
              <a:ln w="1905">
                <a:solidFill>
                  <a:schemeClr val="bg2">
                    <a:lumMod val="10000"/>
                  </a:schemeClr>
                </a:solidFill>
              </a:ln>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4</a:t>
            </a:fld>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5</a:t>
            </a:fld>
            <a:endParaRPr lang="en-US" dirty="0"/>
          </a:p>
        </p:txBody>
      </p:sp>
      <p:sp>
        <p:nvSpPr>
          <p:cNvPr id="5" name="Rectangle 4"/>
          <p:cNvSpPr/>
          <p:nvPr/>
        </p:nvSpPr>
        <p:spPr>
          <a:xfrm>
            <a:off x="3566160" y="424734"/>
            <a:ext cx="5943600" cy="830997"/>
          </a:xfrm>
          <a:prstGeom prst="rect">
            <a:avLst/>
          </a:prstGeom>
        </p:spPr>
        <p:txBody>
          <a:bodyPr>
            <a:spAutoFit/>
          </a:bodyPr>
          <a:lstStyle/>
          <a:p>
            <a:pPr algn="ctr"/>
            <a:r>
              <a:rPr lang="en-US" sz="1600" b="1" dirty="0" smtClean="0">
                <a:ln w="11430">
                  <a:solidFill>
                    <a:schemeClr val="tx2">
                      <a:lumMod val="50000"/>
                    </a:schemeClr>
                  </a:solidFill>
                </a:ln>
                <a:effectLst>
                  <a:outerShdw blurRad="50800" dist="39000" dir="5460000" algn="tl">
                    <a:srgbClr val="000000">
                      <a:alpha val="38000"/>
                    </a:srgbClr>
                  </a:outerShdw>
                </a:effectLst>
              </a:rPr>
              <a:t> </a:t>
            </a:r>
            <a:r>
              <a:rPr lang="en-US" sz="2400" b="1" dirty="0" smtClean="0">
                <a:ln w="11430">
                  <a:solidFill>
                    <a:schemeClr val="tx2">
                      <a:lumMod val="50000"/>
                    </a:schemeClr>
                  </a:solidFill>
                </a:ln>
                <a:effectLst>
                  <a:outerShdw blurRad="50800" dist="39000" dir="5460000" algn="tl">
                    <a:srgbClr val="000000">
                      <a:alpha val="38000"/>
                    </a:srgbClr>
                  </a:outerShdw>
                </a:effectLst>
              </a:rPr>
              <a:t>1.Introduction</a:t>
            </a:r>
            <a:br>
              <a:rPr lang="en-US" sz="2400" b="1" dirty="0" smtClean="0">
                <a:ln w="11430">
                  <a:solidFill>
                    <a:schemeClr val="tx2">
                      <a:lumMod val="50000"/>
                    </a:schemeClr>
                  </a:solidFill>
                </a:ln>
                <a:effectLst>
                  <a:outerShdw blurRad="50800" dist="39000" dir="5460000" algn="tl">
                    <a:srgbClr val="000000">
                      <a:alpha val="38000"/>
                    </a:srgbClr>
                  </a:outerShdw>
                </a:effectLst>
              </a:rPr>
            </a:br>
            <a:endParaRPr lang="en-US" sz="2400" dirty="0"/>
          </a:p>
        </p:txBody>
      </p:sp>
      <p:sp>
        <p:nvSpPr>
          <p:cNvPr id="13316" name="AutoShape 4" descr="Image result for introduction picture"/>
          <p:cNvSpPr>
            <a:spLocks noChangeAspect="1" noChangeArrowheads="1"/>
          </p:cNvSpPr>
          <p:nvPr/>
        </p:nvSpPr>
        <p:spPr bwMode="auto">
          <a:xfrm>
            <a:off x="202248" y="-160206"/>
            <a:ext cx="387985" cy="350218"/>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3318" name="AutoShape 6" descr="Image result for introduction picture"/>
          <p:cNvSpPr>
            <a:spLocks noChangeAspect="1" noChangeArrowheads="1"/>
          </p:cNvSpPr>
          <p:nvPr/>
        </p:nvSpPr>
        <p:spPr bwMode="auto">
          <a:xfrm>
            <a:off x="202248" y="-160206"/>
            <a:ext cx="387985" cy="350218"/>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3320" name="AutoShape 8" descr="Image result for introduction picture"/>
          <p:cNvSpPr>
            <a:spLocks noChangeAspect="1" noChangeArrowheads="1"/>
          </p:cNvSpPr>
          <p:nvPr/>
        </p:nvSpPr>
        <p:spPr bwMode="auto">
          <a:xfrm>
            <a:off x="202248" y="-160206"/>
            <a:ext cx="387985" cy="350218"/>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3322" name="AutoShape 10" descr="Image result for introduction picture"/>
          <p:cNvSpPr>
            <a:spLocks noChangeAspect="1" noChangeArrowheads="1"/>
          </p:cNvSpPr>
          <p:nvPr/>
        </p:nvSpPr>
        <p:spPr bwMode="auto">
          <a:xfrm>
            <a:off x="202248" y="-160206"/>
            <a:ext cx="387985" cy="350218"/>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3324" name="AutoShape 12" descr="Image result for introduction picture"/>
          <p:cNvSpPr>
            <a:spLocks noChangeAspect="1" noChangeArrowheads="1"/>
          </p:cNvSpPr>
          <p:nvPr/>
        </p:nvSpPr>
        <p:spPr bwMode="auto">
          <a:xfrm>
            <a:off x="202248" y="-160206"/>
            <a:ext cx="387985" cy="350218"/>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13" name="Picture 12" descr="introduction-words-on-notepad-business-260nw-1104761594.jpg"/>
          <p:cNvPicPr>
            <a:picLocks noChangeAspect="1"/>
          </p:cNvPicPr>
          <p:nvPr/>
        </p:nvPicPr>
        <p:blipFill>
          <a:blip r:embed="rId2"/>
          <a:stretch>
            <a:fillRect/>
          </a:stretch>
        </p:blipFill>
        <p:spPr>
          <a:xfrm>
            <a:off x="891540" y="1497742"/>
            <a:ext cx="4392692" cy="2950774"/>
          </a:xfrm>
          <a:prstGeom prst="rect">
            <a:avLst/>
          </a:prstGeom>
        </p:spPr>
      </p:pic>
      <p:sp>
        <p:nvSpPr>
          <p:cNvPr id="14" name="Rectangle 13"/>
          <p:cNvSpPr/>
          <p:nvPr/>
        </p:nvSpPr>
        <p:spPr>
          <a:xfrm>
            <a:off x="5646420" y="1318908"/>
            <a:ext cx="5943600" cy="3139321"/>
          </a:xfrm>
          <a:prstGeom prst="rect">
            <a:avLst/>
          </a:prstGeom>
        </p:spPr>
        <p:txBody>
          <a:bodyPr>
            <a:spAutoFit/>
          </a:bodyPr>
          <a:lstStyle/>
          <a:p>
            <a:pPr algn="just"/>
            <a:r>
              <a:rPr lang="en-US" sz="1400" dirty="0" smtClean="0"/>
              <a:t>Now  days the population of our Chittagong city is increasing day by day for many reasons specially for jobs and business . These increases of population creates huge needs of rent houses. But for the lack of a searching system many people cannot find the rent house according to there choice. Even though they can get their preferred  rent house sometimes some problem are created between the renter and the  owner about rent and agreement.</a:t>
            </a:r>
          </a:p>
          <a:p>
            <a:pPr algn="just"/>
            <a:endParaRPr lang="en-US" sz="1400" dirty="0" smtClean="0"/>
          </a:p>
          <a:p>
            <a:pPr algn="just"/>
            <a:r>
              <a:rPr lang="en-US" sz="1400" dirty="0" smtClean="0"/>
              <a:t>To solve all these problems we created </a:t>
            </a:r>
            <a:r>
              <a:rPr lang="en-US" sz="1600" b="1" dirty="0" smtClean="0"/>
              <a:t>"Amader Adhunik Bari"</a:t>
            </a:r>
            <a:r>
              <a:rPr lang="en-US" sz="1400" b="1" dirty="0" smtClean="0"/>
              <a:t> </a:t>
            </a:r>
            <a:r>
              <a:rPr lang="en-US" sz="1400" dirty="0" smtClean="0"/>
              <a:t>web application. This application is both managing and searching system. This system is designed for two kind of people firstly, for the people who are searching for rent house. secondly, for the people who are the  owner and renter of a specific apartment. This system will create a trustworthy  relation between owner and renter.</a:t>
            </a:r>
          </a:p>
          <a:p>
            <a:pPr algn="just"/>
            <a:endParaRPr lang="en-US" sz="14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6</a:t>
            </a:fld>
            <a:endParaRPr lang="en-US" dirty="0"/>
          </a:p>
        </p:txBody>
      </p:sp>
      <p:sp>
        <p:nvSpPr>
          <p:cNvPr id="3" name="Rectangle 2"/>
          <p:cNvSpPr/>
          <p:nvPr/>
        </p:nvSpPr>
        <p:spPr>
          <a:xfrm>
            <a:off x="2971800" y="198438"/>
            <a:ext cx="5943600" cy="830997"/>
          </a:xfrm>
          <a:prstGeom prst="rect">
            <a:avLst/>
          </a:prstGeom>
        </p:spPr>
        <p:txBody>
          <a:bodyPr>
            <a:spAutoFit/>
          </a:bodyPr>
          <a:lstStyle/>
          <a:p>
            <a:pPr algn="ctr"/>
            <a:r>
              <a:rPr lang="en-US" sz="2400" b="1" dirty="0" smtClean="0">
                <a:ln w="11430">
                  <a:solidFill>
                    <a:schemeClr val="tx2">
                      <a:lumMod val="50000"/>
                    </a:schemeClr>
                  </a:solidFill>
                </a:ln>
                <a:effectLst>
                  <a:outerShdw blurRad="50800" dist="39000" dir="5460000" algn="tl">
                    <a:srgbClr val="000000">
                      <a:alpha val="38000"/>
                    </a:srgbClr>
                  </a:outerShdw>
                </a:effectLst>
              </a:rPr>
              <a:t> 2.Background of the study</a:t>
            </a:r>
            <a:br>
              <a:rPr lang="en-US" sz="2400" b="1" dirty="0" smtClean="0">
                <a:ln w="11430">
                  <a:solidFill>
                    <a:schemeClr val="tx2">
                      <a:lumMod val="50000"/>
                    </a:schemeClr>
                  </a:solidFill>
                </a:ln>
                <a:effectLst>
                  <a:outerShdw blurRad="50800" dist="39000" dir="5460000" algn="tl">
                    <a:srgbClr val="000000">
                      <a:alpha val="38000"/>
                    </a:srgbClr>
                  </a:outerShdw>
                </a:effectLst>
              </a:rPr>
            </a:br>
            <a:endParaRPr lang="en-US" sz="2400" dirty="0"/>
          </a:p>
        </p:txBody>
      </p:sp>
      <p:graphicFrame>
        <p:nvGraphicFramePr>
          <p:cNvPr id="4" name="Table 3"/>
          <p:cNvGraphicFramePr>
            <a:graphicFrameLocks noGrp="1"/>
          </p:cNvGraphicFramePr>
          <p:nvPr/>
        </p:nvGraphicFramePr>
        <p:xfrm>
          <a:off x="1981200" y="985837"/>
          <a:ext cx="8816340" cy="3119120"/>
        </p:xfrm>
        <a:graphic>
          <a:graphicData uri="http://schemas.openxmlformats.org/drawingml/2006/table">
            <a:tbl>
              <a:tblPr firstRow="1" bandRow="1">
                <a:tableStyleId>{1FECB4D8-DB02-4DC6-A0A2-4F2EBAE1DC90}</a:tableStyleId>
              </a:tblPr>
              <a:tblGrid>
                <a:gridCol w="4408170"/>
                <a:gridCol w="4408170"/>
              </a:tblGrid>
              <a:tr h="370840">
                <a:tc>
                  <a:txBody>
                    <a:bodyPr/>
                    <a:lstStyle/>
                    <a:p>
                      <a:r>
                        <a:rPr lang="en-US" dirty="0" smtClean="0"/>
                        <a:t>Web application</a:t>
                      </a:r>
                      <a:endParaRPr lang="en-US" dirty="0"/>
                    </a:p>
                  </a:txBody>
                  <a:tcPr marL="118872" marR="118872"/>
                </a:tc>
                <a:tc>
                  <a:txBody>
                    <a:bodyPr/>
                    <a:lstStyle/>
                    <a:p>
                      <a:pPr algn="ctr"/>
                      <a:r>
                        <a:rPr lang="en-US" dirty="0" smtClean="0"/>
                        <a:t>Features</a:t>
                      </a:r>
                      <a:r>
                        <a:rPr lang="en-US" baseline="0" dirty="0" smtClean="0"/>
                        <a:t> of web application</a:t>
                      </a:r>
                      <a:endParaRPr lang="en-US" dirty="0"/>
                    </a:p>
                  </a:txBody>
                  <a:tcPr marL="118872" marR="118872"/>
                </a:tc>
              </a:tr>
              <a:tr h="370840">
                <a:tc>
                  <a:txBody>
                    <a:bodyPr/>
                    <a:lstStyle/>
                    <a:p>
                      <a:r>
                        <a:rPr lang="en-US" dirty="0" smtClean="0"/>
                        <a:t>Bdhousing</a:t>
                      </a:r>
                      <a:endParaRPr lang="en-US" dirty="0"/>
                    </a:p>
                  </a:txBody>
                  <a:tcPr marL="118872" marR="118872"/>
                </a:tc>
                <a:tc>
                  <a:txBody>
                    <a:bodyPr/>
                    <a:lstStyle/>
                    <a:p>
                      <a:pPr marL="342900" indent="-342900" algn="l">
                        <a:buFont typeface="+mj-lt"/>
                        <a:buAutoNum type="arabicPeriod"/>
                      </a:pPr>
                      <a:r>
                        <a:rPr lang="en-US" dirty="0" smtClean="0"/>
                        <a:t>System</a:t>
                      </a:r>
                      <a:r>
                        <a:rPr lang="en-US" baseline="0" dirty="0" smtClean="0"/>
                        <a:t> for rent</a:t>
                      </a:r>
                    </a:p>
                    <a:p>
                      <a:pPr marL="342900" indent="-342900" algn="l">
                        <a:buFont typeface="+mj-lt"/>
                        <a:buNone/>
                      </a:pPr>
                      <a:r>
                        <a:rPr lang="en-US" baseline="0" dirty="0" smtClean="0"/>
                        <a:t>and sale in fixed</a:t>
                      </a:r>
                    </a:p>
                    <a:p>
                      <a:pPr marL="342900" indent="-342900" algn="l">
                        <a:buFont typeface="+mj-lt"/>
                        <a:buNone/>
                      </a:pPr>
                      <a:r>
                        <a:rPr lang="en-US" baseline="0" dirty="0" smtClean="0"/>
                        <a:t>Location.</a:t>
                      </a:r>
                    </a:p>
                    <a:p>
                      <a:pPr marL="342900" indent="-342900" algn="l">
                        <a:buFont typeface="+mj-lt"/>
                        <a:buNone/>
                      </a:pPr>
                      <a:r>
                        <a:rPr lang="en-US" baseline="0" dirty="0" smtClean="0"/>
                        <a:t>2.</a:t>
                      </a:r>
                      <a:r>
                        <a:rPr lang="en-US" dirty="0" smtClean="0"/>
                        <a:t> .Filtering on the</a:t>
                      </a:r>
                    </a:p>
                    <a:p>
                      <a:pPr marL="342900" indent="-342900" algn="l">
                        <a:buFont typeface="+mj-lt"/>
                        <a:buNone/>
                      </a:pPr>
                      <a:r>
                        <a:rPr lang="en-US" dirty="0" smtClean="0"/>
                        <a:t>basis of rent, sale</a:t>
                      </a:r>
                    </a:p>
                    <a:p>
                      <a:pPr marL="342900" indent="-342900" algn="l">
                        <a:buFont typeface="+mj-lt"/>
                        <a:buNone/>
                      </a:pPr>
                      <a:r>
                        <a:rPr lang="en-US" dirty="0" smtClean="0"/>
                        <a:t>and roommates.</a:t>
                      </a:r>
                    </a:p>
                  </a:txBody>
                  <a:tcPr marL="118872" marR="118872"/>
                </a:tc>
              </a:tr>
              <a:tr h="370840">
                <a:tc>
                  <a:txBody>
                    <a:bodyPr/>
                    <a:lstStyle/>
                    <a:p>
                      <a:r>
                        <a:rPr lang="en-US" dirty="0" smtClean="0"/>
                        <a:t>RentalHouseBD</a:t>
                      </a:r>
                      <a:endParaRPr lang="en-US" dirty="0"/>
                    </a:p>
                  </a:txBody>
                  <a:tcPr marL="118872" marR="118872"/>
                </a:tc>
                <a:tc>
                  <a:txBody>
                    <a:bodyPr/>
                    <a:lstStyle/>
                    <a:p>
                      <a:pPr marL="342900" indent="-342900">
                        <a:buFont typeface="+mj-lt"/>
                        <a:buAutoNum type="arabicPeriod"/>
                      </a:pPr>
                      <a:r>
                        <a:rPr lang="en-US" dirty="0" smtClean="0"/>
                        <a:t>Sorting by</a:t>
                      </a:r>
                      <a:r>
                        <a:rPr lang="en-US" baseline="0" dirty="0" smtClean="0"/>
                        <a:t> pricing.</a:t>
                      </a:r>
                      <a:endParaRPr lang="en-US" dirty="0" smtClean="0"/>
                    </a:p>
                    <a:p>
                      <a:pPr marL="342900" indent="-342900">
                        <a:buFont typeface="+mj-lt"/>
                        <a:buAutoNum type="arabicPeriod"/>
                      </a:pPr>
                      <a:endParaRPr lang="en-US" dirty="0"/>
                    </a:p>
                  </a:txBody>
                  <a:tcPr marL="118872" marR="118872"/>
                </a:tc>
              </a:tr>
              <a:tr h="370840">
                <a:tc>
                  <a:txBody>
                    <a:bodyPr/>
                    <a:lstStyle/>
                    <a:p>
                      <a:r>
                        <a:rPr lang="en-US" dirty="0" smtClean="0"/>
                        <a:t>BdTo-let: </a:t>
                      </a:r>
                      <a:endParaRPr lang="en-US" dirty="0"/>
                    </a:p>
                  </a:txBody>
                  <a:tcPr marL="118872" marR="118872"/>
                </a:tc>
                <a:tc>
                  <a:txBody>
                    <a:bodyPr/>
                    <a:lstStyle/>
                    <a:p>
                      <a:pPr marL="342900" indent="-342900">
                        <a:buFont typeface="+mj-lt"/>
                        <a:buAutoNum type="arabicPeriod"/>
                      </a:pPr>
                      <a:r>
                        <a:rPr lang="en-US" dirty="0" smtClean="0"/>
                        <a:t>Wide range of advertisement facility</a:t>
                      </a:r>
                      <a:endParaRPr lang="en-US" dirty="0"/>
                    </a:p>
                  </a:txBody>
                  <a:tcPr marL="118872" marR="118872"/>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7</a:t>
            </a:fld>
            <a:endParaRPr lang="en-US" dirty="0"/>
          </a:p>
        </p:txBody>
      </p:sp>
      <p:sp>
        <p:nvSpPr>
          <p:cNvPr id="3" name="Rectangle 2"/>
          <p:cNvSpPr/>
          <p:nvPr/>
        </p:nvSpPr>
        <p:spPr>
          <a:xfrm>
            <a:off x="2674620" y="198438"/>
            <a:ext cx="5943600" cy="830997"/>
          </a:xfrm>
          <a:prstGeom prst="rect">
            <a:avLst/>
          </a:prstGeom>
        </p:spPr>
        <p:txBody>
          <a:bodyPr>
            <a:spAutoFit/>
          </a:bodyPr>
          <a:lstStyle/>
          <a:p>
            <a:pPr algn="ctr"/>
            <a:r>
              <a:rPr lang="en-US" sz="2400" b="1" dirty="0" smtClean="0">
                <a:ln w="11430">
                  <a:solidFill>
                    <a:schemeClr val="tx2">
                      <a:lumMod val="50000"/>
                    </a:schemeClr>
                  </a:solidFill>
                </a:ln>
                <a:effectLst>
                  <a:outerShdw blurRad="50800" dist="39000" dir="5460000" algn="tl">
                    <a:srgbClr val="000000">
                      <a:alpha val="38000"/>
                    </a:srgbClr>
                  </a:outerShdw>
                </a:effectLst>
              </a:rPr>
              <a:t>    3.Problem Statements</a:t>
            </a:r>
            <a:br>
              <a:rPr lang="en-US" sz="2400" b="1" dirty="0" smtClean="0">
                <a:ln w="11430">
                  <a:solidFill>
                    <a:schemeClr val="tx2">
                      <a:lumMod val="50000"/>
                    </a:schemeClr>
                  </a:solidFill>
                </a:ln>
                <a:effectLst>
                  <a:outerShdw blurRad="50800" dist="39000" dir="5460000" algn="tl">
                    <a:srgbClr val="000000">
                      <a:alpha val="38000"/>
                    </a:srgbClr>
                  </a:outerShdw>
                </a:effectLst>
              </a:rPr>
            </a:br>
            <a:endParaRPr lang="en-US" sz="2400" dirty="0"/>
          </a:p>
        </p:txBody>
      </p:sp>
      <p:sp>
        <p:nvSpPr>
          <p:cNvPr id="4" name="Rectangle 3"/>
          <p:cNvSpPr/>
          <p:nvPr/>
        </p:nvSpPr>
        <p:spPr>
          <a:xfrm>
            <a:off x="4061460" y="634196"/>
            <a:ext cx="7231380" cy="4016484"/>
          </a:xfrm>
          <a:prstGeom prst="rect">
            <a:avLst/>
          </a:prstGeom>
        </p:spPr>
        <p:txBody>
          <a:bodyPr wrap="square">
            <a:spAutoFit/>
          </a:bodyPr>
          <a:lstStyle/>
          <a:p>
            <a:pPr algn="just"/>
            <a:endParaRPr lang="en-US" dirty="0" smtClean="0"/>
          </a:p>
          <a:p>
            <a:pPr algn="just"/>
            <a:r>
              <a:rPr lang="en-US" dirty="0" smtClean="0"/>
              <a:t>In the ongoing circumstances, complications regarding apartment hiring and unnecessary hassles are prevalent. Due to the urge of avoidance of unexpected circumstances, the issue to automate the rental system has become a prime key to this deadlock. In any heavily populous city like Dhaka or Chattogram, attaining apartment on rent is a key problem. Besides, major issues and problems due to the pity misunderstandings and contractual violence have become a common problem to be dealt with immediately. To be more specific, misunderstanding and communicational lapses in case of rent payment is a key menace. Also, in case of agreement issues, automation is necessary. Without an automated system, occurrence of agreement related ruses and even legal issues in case of extreme situation is not quite expected. In addition, lack of transparency between renter and owner of the apartment is quite an issue. </a:t>
            </a:r>
          </a:p>
          <a:p>
            <a:pPr algn="just"/>
            <a:endParaRPr lang="en-US" dirty="0" smtClean="0"/>
          </a:p>
          <a:p>
            <a:pPr algn="just"/>
            <a:r>
              <a:rPr lang="en-US" dirty="0" smtClean="0"/>
              <a:t>Also, forgetting of rental payment leads to some big brawls often which needs to be addressed as well. In addition to all these things, lacking of proper clarity regarding advance payment is a key issue as well. Often false allegations are placed in order to defame the rental party. This leads to further hassles and complications</a:t>
            </a:r>
            <a:endParaRPr lang="en-US" dirty="0"/>
          </a:p>
        </p:txBody>
      </p:sp>
      <p:pic>
        <p:nvPicPr>
          <p:cNvPr id="1026" name="Picture 2" descr="Image result for problem statement picture"/>
          <p:cNvPicPr>
            <a:picLocks noChangeAspect="1" noChangeArrowheads="1"/>
          </p:cNvPicPr>
          <p:nvPr/>
        </p:nvPicPr>
        <p:blipFill>
          <a:blip r:embed="rId2"/>
          <a:srcRect/>
          <a:stretch>
            <a:fillRect/>
          </a:stretch>
        </p:blipFill>
        <p:spPr bwMode="auto">
          <a:xfrm>
            <a:off x="198121" y="1265237"/>
            <a:ext cx="3566159" cy="27432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8</a:t>
            </a:fld>
            <a:endParaRPr lang="en-US" dirty="0"/>
          </a:p>
        </p:txBody>
      </p:sp>
      <p:sp>
        <p:nvSpPr>
          <p:cNvPr id="3" name="Rectangle 2"/>
          <p:cNvSpPr/>
          <p:nvPr/>
        </p:nvSpPr>
        <p:spPr>
          <a:xfrm>
            <a:off x="1783080" y="245899"/>
            <a:ext cx="8221980" cy="830997"/>
          </a:xfrm>
          <a:prstGeom prst="rect">
            <a:avLst/>
          </a:prstGeom>
        </p:spPr>
        <p:txBody>
          <a:bodyPr wrap="square">
            <a:spAutoFit/>
          </a:bodyPr>
          <a:lstStyle/>
          <a:p>
            <a:pPr algn="ctr"/>
            <a:r>
              <a:rPr lang="en-US" sz="2400" b="1" dirty="0" smtClean="0">
                <a:ln w="11430">
                  <a:solidFill>
                    <a:schemeClr val="tx2">
                      <a:lumMod val="50000"/>
                    </a:schemeClr>
                  </a:solidFill>
                </a:ln>
                <a:effectLst>
                  <a:outerShdw blurRad="50800" dist="39000" dir="5460000" algn="tl">
                    <a:srgbClr val="000000">
                      <a:alpha val="38000"/>
                    </a:srgbClr>
                  </a:outerShdw>
                </a:effectLst>
              </a:rPr>
              <a:t>4.Literature Review/Review of existing work</a:t>
            </a:r>
            <a:br>
              <a:rPr lang="en-US" sz="2400" b="1" dirty="0" smtClean="0">
                <a:ln w="11430">
                  <a:solidFill>
                    <a:schemeClr val="tx2">
                      <a:lumMod val="50000"/>
                    </a:schemeClr>
                  </a:solidFill>
                </a:ln>
                <a:effectLst>
                  <a:outerShdw blurRad="50800" dist="39000" dir="5460000" algn="tl">
                    <a:srgbClr val="000000">
                      <a:alpha val="38000"/>
                    </a:srgbClr>
                  </a:outerShdw>
                </a:effectLst>
              </a:rPr>
            </a:br>
            <a:endParaRPr lang="en-US" sz="2400" dirty="0"/>
          </a:p>
        </p:txBody>
      </p:sp>
      <p:pic>
        <p:nvPicPr>
          <p:cNvPr id="32770" name="Picture 2" descr="Image result for Bdhousing"/>
          <p:cNvPicPr>
            <a:picLocks noChangeAspect="1" noChangeArrowheads="1"/>
          </p:cNvPicPr>
          <p:nvPr/>
        </p:nvPicPr>
        <p:blipFill>
          <a:blip r:embed="rId2"/>
          <a:srcRect/>
          <a:stretch>
            <a:fillRect/>
          </a:stretch>
        </p:blipFill>
        <p:spPr bwMode="auto">
          <a:xfrm>
            <a:off x="297183" y="1587161"/>
            <a:ext cx="3764279" cy="2019595"/>
          </a:xfrm>
          <a:prstGeom prst="rect">
            <a:avLst/>
          </a:prstGeom>
          <a:noFill/>
        </p:spPr>
      </p:pic>
      <p:pic>
        <p:nvPicPr>
          <p:cNvPr id="32772" name="Picture 4" descr="Image result for RentalHouseBD"/>
          <p:cNvPicPr>
            <a:picLocks noChangeAspect="1" noChangeArrowheads="1"/>
          </p:cNvPicPr>
          <p:nvPr/>
        </p:nvPicPr>
        <p:blipFill>
          <a:blip r:embed="rId3"/>
          <a:srcRect/>
          <a:stretch>
            <a:fillRect/>
          </a:stretch>
        </p:blipFill>
        <p:spPr bwMode="auto">
          <a:xfrm>
            <a:off x="5448300" y="1497743"/>
            <a:ext cx="5448300" cy="1817507"/>
          </a:xfrm>
          <a:prstGeom prst="rect">
            <a:avLst/>
          </a:prstGeom>
          <a:noFill/>
        </p:spPr>
      </p:pic>
      <p:pic>
        <p:nvPicPr>
          <p:cNvPr id="32774" name="Picture 6" descr="Image result for bdtolet"/>
          <p:cNvPicPr>
            <a:picLocks noChangeAspect="1" noChangeArrowheads="1"/>
          </p:cNvPicPr>
          <p:nvPr/>
        </p:nvPicPr>
        <p:blipFill>
          <a:blip r:embed="rId4"/>
          <a:srcRect/>
          <a:stretch>
            <a:fillRect/>
          </a:stretch>
        </p:blipFill>
        <p:spPr bwMode="auto">
          <a:xfrm>
            <a:off x="1981202" y="3643760"/>
            <a:ext cx="6930073" cy="2110536"/>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400" b="1" dirty="0" smtClean="0">
                <a:ln w="11430">
                  <a:solidFill>
                    <a:schemeClr val="tx2">
                      <a:lumMod val="50000"/>
                    </a:schemeClr>
                  </a:solidFill>
                </a:ln>
                <a:effectLst>
                  <a:outerShdw blurRad="50800" dist="39000" dir="5460000" algn="tl">
                    <a:srgbClr val="000000">
                      <a:alpha val="38000"/>
                    </a:srgbClr>
                  </a:outerShdw>
                </a:effectLst>
              </a:rPr>
              <a:t>Features of existing website :</a:t>
            </a:r>
            <a:r>
              <a:rPr lang="en-US" sz="2400" dirty="0" smtClean="0"/>
              <a:t/>
            </a:r>
            <a:br>
              <a:rPr lang="en-US" sz="2400" dirty="0" smtClean="0"/>
            </a:br>
            <a:endParaRPr lang="en-US" sz="2400" dirty="0"/>
          </a:p>
        </p:txBody>
      </p:sp>
      <p:sp>
        <p:nvSpPr>
          <p:cNvPr id="3" name="Content Placeholder 2"/>
          <p:cNvSpPr>
            <a:spLocks noGrp="1"/>
          </p:cNvSpPr>
          <p:nvPr>
            <p:ph idx="1"/>
          </p:nvPr>
        </p:nvSpPr>
        <p:spPr/>
        <p:txBody>
          <a:bodyPr>
            <a:normAutofit/>
          </a:bodyPr>
          <a:lstStyle/>
          <a:p>
            <a:pPr>
              <a:buAutoNum type="arabicPeriod"/>
            </a:pPr>
            <a:r>
              <a:rPr lang="en-US" sz="1600" dirty="0" smtClean="0"/>
              <a:t>A diversified system with rent and sale of houses in particular location. </a:t>
            </a:r>
          </a:p>
          <a:p>
            <a:pPr>
              <a:buAutoNum type="arabicPeriod"/>
            </a:pPr>
            <a:r>
              <a:rPr lang="en-US" sz="1600" dirty="0" smtClean="0"/>
              <a:t>Provide the feature of filtering on the basis of rent, sale and roommate.</a:t>
            </a:r>
          </a:p>
          <a:p>
            <a:pPr>
              <a:buAutoNum type="arabicPeriod"/>
            </a:pPr>
            <a:r>
              <a:rPr lang="en-US" sz="1600" dirty="0" smtClean="0"/>
              <a:t>Sorting can be done in terms of pricing, location. </a:t>
            </a:r>
          </a:p>
          <a:p>
            <a:pPr>
              <a:buAutoNum type="arabicPeriod"/>
            </a:pPr>
            <a:r>
              <a:rPr lang="en-US" sz="1600" dirty="0" smtClean="0"/>
              <a:t> Unique system with wide range of advertisement facility. </a:t>
            </a:r>
          </a:p>
          <a:p>
            <a:pPr>
              <a:buAutoNum type="arabicPeriod"/>
            </a:pPr>
            <a:r>
              <a:rPr lang="en-US" sz="1600" dirty="0" smtClean="0"/>
              <a:t>Provide the feature of filtering on the basis of rent, sale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dirty="0"/>
          </a:p>
        </p:txBody>
      </p:sp>
      <p:sp>
        <p:nvSpPr>
          <p:cNvPr id="33800" name="AutoShape 8" descr="Image result for features images of web application"/>
          <p:cNvSpPr>
            <a:spLocks noChangeAspect="1" noChangeArrowheads="1"/>
          </p:cNvSpPr>
          <p:nvPr/>
        </p:nvSpPr>
        <p:spPr bwMode="auto">
          <a:xfrm>
            <a:off x="202248" y="-160206"/>
            <a:ext cx="387985" cy="350218"/>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3806" name="AutoShape 14" descr="Image result for features images of web application"/>
          <p:cNvSpPr>
            <a:spLocks noChangeAspect="1" noChangeArrowheads="1"/>
          </p:cNvSpPr>
          <p:nvPr/>
        </p:nvSpPr>
        <p:spPr bwMode="auto">
          <a:xfrm>
            <a:off x="202248" y="-160206"/>
            <a:ext cx="387985" cy="350218"/>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400" b="1" dirty="0" smtClean="0">
                <a:ln w="11430">
                  <a:solidFill>
                    <a:schemeClr val="tx2">
                      <a:lumMod val="50000"/>
                    </a:schemeClr>
                  </a:solidFill>
                </a:ln>
                <a:effectLst>
                  <a:outerShdw blurRad="50800" dist="39000" dir="5460000" algn="tl">
                    <a:srgbClr val="000000">
                      <a:alpha val="38000"/>
                    </a:srgbClr>
                  </a:outerShdw>
                </a:effectLst>
              </a:rPr>
              <a:t>Limitation of existing websites :</a:t>
            </a:r>
            <a:r>
              <a:rPr lang="en-US" sz="2400" dirty="0" smtClean="0"/>
              <a:t/>
            </a:r>
            <a:br>
              <a:rPr lang="en-US" sz="2400" dirty="0" smtClean="0"/>
            </a:br>
            <a:endParaRPr lang="en-US" sz="2400" dirty="0"/>
          </a:p>
        </p:txBody>
      </p:sp>
      <p:sp>
        <p:nvSpPr>
          <p:cNvPr id="3" name="Content Placeholder 2"/>
          <p:cNvSpPr>
            <a:spLocks noGrp="1"/>
          </p:cNvSpPr>
          <p:nvPr>
            <p:ph idx="1"/>
          </p:nvPr>
        </p:nvSpPr>
        <p:spPr/>
        <p:txBody>
          <a:bodyPr>
            <a:normAutofit/>
          </a:bodyPr>
          <a:lstStyle/>
          <a:p>
            <a:pPr marL="514350" indent="-514350">
              <a:buNone/>
            </a:pPr>
            <a:r>
              <a:rPr lang="en-US" sz="2000" b="1" dirty="0" smtClean="0"/>
              <a:t>For all existing website:</a:t>
            </a:r>
          </a:p>
          <a:p>
            <a:pPr marL="514350" indent="-514350">
              <a:buFont typeface="+mj-lt"/>
              <a:buAutoNum type="arabicPeriod"/>
            </a:pPr>
            <a:r>
              <a:rPr lang="en-US" sz="1600" dirty="0" smtClean="0"/>
              <a:t>User cannot update their profile</a:t>
            </a:r>
          </a:p>
          <a:p>
            <a:pPr marL="514350" indent="-514350">
              <a:buFont typeface="+mj-lt"/>
              <a:buAutoNum type="arabicPeriod"/>
            </a:pPr>
            <a:r>
              <a:rPr lang="en-US" sz="1600" dirty="0" smtClean="0"/>
              <a:t>Providing no notification regarding payment and renewal of agreement.</a:t>
            </a:r>
          </a:p>
          <a:p>
            <a:pPr marL="514350" indent="-514350">
              <a:buFont typeface="+mj-lt"/>
              <a:buAutoNum type="arabicPeriod"/>
            </a:pPr>
            <a:r>
              <a:rPr lang="en-US" sz="1600" dirty="0" smtClean="0"/>
              <a:t>Cannot store the previous  renter data.</a:t>
            </a:r>
          </a:p>
          <a:p>
            <a:pPr marL="514350" indent="-514350">
              <a:buFont typeface="+mj-lt"/>
              <a:buAutoNum type="arabicPeriod"/>
            </a:pPr>
            <a:r>
              <a:rPr lang="en-US" sz="1600" dirty="0" smtClean="0"/>
              <a:t>Serves only as platform of apartment sale or rent without any maintenance issue being addressed.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400" b="1" dirty="0" smtClean="0">
                <a:ln w="11430">
                  <a:solidFill>
                    <a:schemeClr val="tx2">
                      <a:lumMod val="50000"/>
                    </a:schemeClr>
                  </a:solidFill>
                </a:ln>
                <a:effectLst>
                  <a:outerShdw blurRad="50800" dist="39000" dir="5460000" algn="tl">
                    <a:srgbClr val="000000">
                      <a:alpha val="38000"/>
                    </a:srgbClr>
                  </a:outerShdw>
                </a:effectLst>
              </a:rPr>
              <a:t>Possible solution :</a:t>
            </a:r>
            <a:r>
              <a:rPr lang="en-US" sz="2400" dirty="0" smtClean="0"/>
              <a:t/>
            </a:r>
            <a:br>
              <a:rPr lang="en-US" sz="2400" dirty="0" smtClean="0"/>
            </a:br>
            <a:endParaRPr lang="en-US" sz="2400"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1600" dirty="0" smtClean="0"/>
              <a:t>Update of profile is possible</a:t>
            </a:r>
          </a:p>
          <a:p>
            <a:pPr marL="514350" indent="-514350">
              <a:buFont typeface="+mj-lt"/>
              <a:buAutoNum type="arabicPeriod"/>
            </a:pPr>
            <a:r>
              <a:rPr lang="en-US" sz="1600" dirty="0" smtClean="0"/>
              <a:t>Provision of notification regarding payment and agreement .</a:t>
            </a:r>
          </a:p>
          <a:p>
            <a:pPr marL="514350" indent="-514350">
              <a:buFont typeface="+mj-lt"/>
              <a:buAutoNum type="arabicPeriod"/>
            </a:pPr>
            <a:r>
              <a:rPr lang="en-US" sz="1600" dirty="0" smtClean="0"/>
              <a:t>Can store the previous renter data.</a:t>
            </a:r>
          </a:p>
          <a:p>
            <a:pPr marL="514350" indent="-514350">
              <a:buFont typeface="+mj-lt"/>
              <a:buAutoNum type="arabicPeriod"/>
            </a:pPr>
            <a:r>
              <a:rPr lang="en-US" sz="1600" dirty="0" smtClean="0"/>
              <a:t>Pivotal work on maintenance issues. </a:t>
            </a:r>
          </a:p>
          <a:p>
            <a:pPr marL="514350" indent="-514350">
              <a:buFont typeface="+mj-lt"/>
              <a:buAutoNum type="arabicPeriod"/>
            </a:pPr>
            <a:endParaRPr lang="en-US" sz="1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12</a:t>
            </a:fld>
            <a:endParaRPr lang="en-US" dirty="0"/>
          </a:p>
        </p:txBody>
      </p:sp>
      <p:sp>
        <p:nvSpPr>
          <p:cNvPr id="3" name="Rectangle 2"/>
          <p:cNvSpPr/>
          <p:nvPr/>
        </p:nvSpPr>
        <p:spPr>
          <a:xfrm>
            <a:off x="2773680" y="156482"/>
            <a:ext cx="5943600" cy="830997"/>
          </a:xfrm>
          <a:prstGeom prst="rect">
            <a:avLst/>
          </a:prstGeom>
        </p:spPr>
        <p:txBody>
          <a:bodyPr>
            <a:spAutoFit/>
          </a:bodyPr>
          <a:lstStyle/>
          <a:p>
            <a:pPr algn="ctr"/>
            <a:r>
              <a:rPr lang="en-US" sz="2400" b="1" dirty="0" smtClean="0">
                <a:ln w="11430">
                  <a:solidFill>
                    <a:schemeClr val="tx2">
                      <a:lumMod val="50000"/>
                    </a:schemeClr>
                  </a:solidFill>
                </a:ln>
                <a:effectLst>
                  <a:outerShdw blurRad="50800" dist="39000" dir="5460000" algn="tl">
                    <a:srgbClr val="000000">
                      <a:alpha val="38000"/>
                    </a:srgbClr>
                  </a:outerShdw>
                </a:effectLst>
              </a:rPr>
              <a:t>5.Objectives</a:t>
            </a:r>
            <a:br>
              <a:rPr lang="en-US" sz="2400" b="1" dirty="0" smtClean="0">
                <a:ln w="11430">
                  <a:solidFill>
                    <a:schemeClr val="tx2">
                      <a:lumMod val="50000"/>
                    </a:schemeClr>
                  </a:solidFill>
                </a:ln>
                <a:effectLst>
                  <a:outerShdw blurRad="50800" dist="39000" dir="5460000" algn="tl">
                    <a:srgbClr val="000000">
                      <a:alpha val="38000"/>
                    </a:srgbClr>
                  </a:outerShdw>
                </a:effectLst>
              </a:rPr>
            </a:br>
            <a:endParaRPr lang="en-US" sz="2400" dirty="0"/>
          </a:p>
        </p:txBody>
      </p:sp>
      <p:sp>
        <p:nvSpPr>
          <p:cNvPr id="4" name="Rectangle 3"/>
          <p:cNvSpPr/>
          <p:nvPr/>
        </p:nvSpPr>
        <p:spPr>
          <a:xfrm>
            <a:off x="4556760" y="1874837"/>
            <a:ext cx="7330440" cy="923330"/>
          </a:xfrm>
          <a:prstGeom prst="rect">
            <a:avLst/>
          </a:prstGeom>
        </p:spPr>
        <p:txBody>
          <a:bodyPr wrap="square">
            <a:spAutoFit/>
          </a:bodyPr>
          <a:lstStyle/>
          <a:p>
            <a:pPr>
              <a:buAutoNum type="arabicPeriod"/>
            </a:pPr>
            <a:r>
              <a:rPr lang="en-US" sz="1800" dirty="0" smtClean="0"/>
              <a:t>To simplify the rental procedures.</a:t>
            </a:r>
          </a:p>
          <a:p>
            <a:pPr>
              <a:buAutoNum type="arabicPeriod"/>
            </a:pPr>
            <a:r>
              <a:rPr lang="en-US" sz="1800" dirty="0" smtClean="0"/>
              <a:t>To notify the renters about payment and agreement. </a:t>
            </a:r>
          </a:p>
          <a:p>
            <a:pPr>
              <a:buAutoNum type="arabicPeriod"/>
            </a:pPr>
            <a:r>
              <a:rPr lang="en-US" sz="1800" dirty="0" smtClean="0"/>
              <a:t> .To minimize the manual labor in case of maintenance.. </a:t>
            </a:r>
          </a:p>
        </p:txBody>
      </p:sp>
      <p:pic>
        <p:nvPicPr>
          <p:cNvPr id="4098" name="Picture 2" descr="Image result for Objective picture"/>
          <p:cNvPicPr>
            <a:picLocks noChangeAspect="1" noChangeArrowheads="1"/>
          </p:cNvPicPr>
          <p:nvPr/>
        </p:nvPicPr>
        <p:blipFill>
          <a:blip r:embed="rId2"/>
          <a:srcRect/>
          <a:stretch>
            <a:fillRect/>
          </a:stretch>
        </p:blipFill>
        <p:spPr bwMode="auto">
          <a:xfrm>
            <a:off x="0" y="1798637"/>
            <a:ext cx="4556760" cy="2336800"/>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13</a:t>
            </a:fld>
            <a:endParaRPr lang="en-US" dirty="0"/>
          </a:p>
        </p:txBody>
      </p:sp>
      <p:sp>
        <p:nvSpPr>
          <p:cNvPr id="3" name="Rectangle 2"/>
          <p:cNvSpPr/>
          <p:nvPr/>
        </p:nvSpPr>
        <p:spPr>
          <a:xfrm>
            <a:off x="2773680" y="274638"/>
            <a:ext cx="6141720" cy="461665"/>
          </a:xfrm>
          <a:prstGeom prst="rect">
            <a:avLst/>
          </a:prstGeom>
        </p:spPr>
        <p:txBody>
          <a:bodyPr wrap="square">
            <a:spAutoFit/>
          </a:bodyPr>
          <a:lstStyle/>
          <a:p>
            <a:pPr algn="ctr"/>
            <a:r>
              <a:rPr lang="en-US" sz="2400" b="1" dirty="0" smtClean="0">
                <a:ln w="11430">
                  <a:solidFill>
                    <a:schemeClr val="tx2">
                      <a:lumMod val="50000"/>
                    </a:schemeClr>
                  </a:solidFill>
                </a:ln>
                <a:effectLst>
                  <a:outerShdw blurRad="50800" dist="39000" dir="5460000" algn="tl">
                    <a:srgbClr val="000000">
                      <a:alpha val="38000"/>
                    </a:srgbClr>
                  </a:outerShdw>
                </a:effectLst>
              </a:rPr>
              <a:t>6.Methodology/Approach</a:t>
            </a:r>
            <a:endParaRPr lang="en-US" sz="2400" dirty="0"/>
          </a:p>
        </p:txBody>
      </p:sp>
      <p:sp>
        <p:nvSpPr>
          <p:cNvPr id="4" name="Rectangle 3"/>
          <p:cNvSpPr/>
          <p:nvPr/>
        </p:nvSpPr>
        <p:spPr>
          <a:xfrm>
            <a:off x="0" y="1112837"/>
            <a:ext cx="5941948" cy="400110"/>
          </a:xfrm>
          <a:prstGeom prst="rect">
            <a:avLst/>
          </a:prstGeom>
        </p:spPr>
        <p:txBody>
          <a:bodyPr wrap="none">
            <a:spAutoFit/>
          </a:bodyPr>
          <a:lstStyle/>
          <a:p>
            <a:r>
              <a:rPr lang="en-US" sz="2000" dirty="0" smtClean="0">
                <a:ln w="11430">
                  <a:solidFill>
                    <a:schemeClr val="tx2">
                      <a:lumMod val="50000"/>
                    </a:schemeClr>
                  </a:solidFill>
                </a:ln>
              </a:rPr>
              <a:t>In order to  complete the project we used agile method</a:t>
            </a:r>
            <a:endParaRPr lang="en-US" sz="2000" dirty="0"/>
          </a:p>
        </p:txBody>
      </p:sp>
      <p:sp>
        <p:nvSpPr>
          <p:cNvPr id="30722" name="AutoShape 2" descr="Image result for agile method"/>
          <p:cNvSpPr>
            <a:spLocks noChangeAspect="1" noChangeArrowheads="1"/>
          </p:cNvSpPr>
          <p:nvPr/>
        </p:nvSpPr>
        <p:spPr bwMode="auto">
          <a:xfrm>
            <a:off x="202248" y="-144463"/>
            <a:ext cx="392113" cy="301626"/>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6" name="Picture 5" descr="0_65DbU_Hc5fBMIrbO.png"/>
          <p:cNvPicPr>
            <a:picLocks noChangeAspect="1"/>
          </p:cNvPicPr>
          <p:nvPr/>
        </p:nvPicPr>
        <p:blipFill>
          <a:blip r:embed="rId2"/>
          <a:stretch>
            <a:fillRect/>
          </a:stretch>
        </p:blipFill>
        <p:spPr>
          <a:xfrm>
            <a:off x="297180" y="2179637"/>
            <a:ext cx="4588345" cy="2590800"/>
          </a:xfrm>
          <a:prstGeom prst="rect">
            <a:avLst/>
          </a:prstGeom>
        </p:spPr>
      </p:pic>
      <p:pic>
        <p:nvPicPr>
          <p:cNvPr id="7" name="Picture 6" descr="Agile-Methodology-benefit-1.png"/>
          <p:cNvPicPr>
            <a:picLocks noChangeAspect="1"/>
          </p:cNvPicPr>
          <p:nvPr/>
        </p:nvPicPr>
        <p:blipFill>
          <a:blip r:embed="rId3"/>
          <a:stretch>
            <a:fillRect/>
          </a:stretch>
        </p:blipFill>
        <p:spPr>
          <a:xfrm>
            <a:off x="4947717" y="2027237"/>
            <a:ext cx="6939483" cy="2819400"/>
          </a:xfrm>
          <a:prstGeom prst="rect">
            <a:avLst/>
          </a:prstGeom>
        </p:spPr>
      </p:pic>
      <p:sp>
        <p:nvSpPr>
          <p:cNvPr id="8" name="Rectangle 7"/>
          <p:cNvSpPr/>
          <p:nvPr/>
        </p:nvSpPr>
        <p:spPr>
          <a:xfrm>
            <a:off x="1188721" y="5303837"/>
            <a:ext cx="2527487" cy="338554"/>
          </a:xfrm>
          <a:prstGeom prst="rect">
            <a:avLst/>
          </a:prstGeom>
        </p:spPr>
        <p:txBody>
          <a:bodyPr wrap="none">
            <a:spAutoFit/>
          </a:bodyPr>
          <a:lstStyle/>
          <a:p>
            <a:pPr algn="ctr"/>
            <a:r>
              <a:rPr lang="en-US" sz="1600" b="1" dirty="0" smtClean="0"/>
              <a:t>Figure : Agile Development </a:t>
            </a:r>
            <a:endParaRPr lang="en-US" sz="1600" b="1" dirty="0"/>
          </a:p>
        </p:txBody>
      </p:sp>
      <p:sp>
        <p:nvSpPr>
          <p:cNvPr id="9" name="Rectangle 8"/>
          <p:cNvSpPr/>
          <p:nvPr/>
        </p:nvSpPr>
        <p:spPr>
          <a:xfrm>
            <a:off x="6042660" y="5303837"/>
            <a:ext cx="4261251" cy="338554"/>
          </a:xfrm>
          <a:prstGeom prst="rect">
            <a:avLst/>
          </a:prstGeom>
        </p:spPr>
        <p:txBody>
          <a:bodyPr wrap="square">
            <a:spAutoFit/>
          </a:bodyPr>
          <a:lstStyle/>
          <a:p>
            <a:pPr algn="ctr"/>
            <a:r>
              <a:rPr lang="en-US" sz="1600" b="1" dirty="0" smtClean="0"/>
              <a:t>Figure : Result of Agile Development</a:t>
            </a:r>
            <a:endParaRPr lang="en-US" sz="1600" b="1"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14</a:t>
            </a:fld>
            <a:endParaRPr lang="en-US" dirty="0"/>
          </a:p>
        </p:txBody>
      </p:sp>
      <p:sp>
        <p:nvSpPr>
          <p:cNvPr id="3" name="Rectangle 2"/>
          <p:cNvSpPr/>
          <p:nvPr/>
        </p:nvSpPr>
        <p:spPr>
          <a:xfrm>
            <a:off x="594360" y="960437"/>
            <a:ext cx="1062150" cy="707886"/>
          </a:xfrm>
          <a:prstGeom prst="rect">
            <a:avLst/>
          </a:prstGeom>
        </p:spPr>
        <p:txBody>
          <a:bodyPr wrap="none">
            <a:spAutoFit/>
          </a:bodyPr>
          <a:lstStyle/>
          <a:p>
            <a:r>
              <a:rPr lang="en-US" sz="2400" b="1" dirty="0" smtClean="0">
                <a:ln w="11430">
                  <a:solidFill>
                    <a:schemeClr val="tx2">
                      <a:lumMod val="50000"/>
                    </a:schemeClr>
                  </a:solidFill>
                </a:ln>
                <a:effectLst>
                  <a:outerShdw blurRad="50800" dist="39000" dir="5460000" algn="tl">
                    <a:srgbClr val="000000">
                      <a:alpha val="38000"/>
                    </a:srgbClr>
                  </a:outerShdw>
                </a:effectLst>
              </a:rPr>
              <a:t>Tools : </a:t>
            </a:r>
          </a:p>
          <a:p>
            <a:endParaRPr lang="en-US" sz="1600" b="1" dirty="0" smtClean="0">
              <a:ln w="11430">
                <a:solidFill>
                  <a:schemeClr val="tx2">
                    <a:lumMod val="50000"/>
                  </a:schemeClr>
                </a:solidFill>
              </a:ln>
              <a:effectLst>
                <a:outerShdw blurRad="50800" dist="39000" dir="5460000" algn="tl">
                  <a:srgbClr val="000000">
                    <a:alpha val="38000"/>
                  </a:srgbClr>
                </a:outerShdw>
              </a:effectLst>
            </a:endParaRPr>
          </a:p>
        </p:txBody>
      </p:sp>
      <p:sp>
        <p:nvSpPr>
          <p:cNvPr id="4" name="Rectangle 3"/>
          <p:cNvSpPr/>
          <p:nvPr/>
        </p:nvSpPr>
        <p:spPr>
          <a:xfrm>
            <a:off x="5646420" y="1951037"/>
            <a:ext cx="5943600" cy="1631216"/>
          </a:xfrm>
          <a:prstGeom prst="rect">
            <a:avLst/>
          </a:prstGeom>
        </p:spPr>
        <p:txBody>
          <a:bodyPr>
            <a:spAutoFit/>
          </a:bodyPr>
          <a:lstStyle/>
          <a:p>
            <a:pPr marL="342900" indent="-342900">
              <a:buFont typeface="+mj-lt"/>
              <a:buAutoNum type="arabicPeriod"/>
            </a:pPr>
            <a:r>
              <a:rPr lang="en-US" sz="2000" dirty="0" smtClean="0"/>
              <a:t>Front End: jQuery, JavaScript, HTML5, CSS3, Bootstrap. </a:t>
            </a:r>
          </a:p>
          <a:p>
            <a:pPr marL="342900" indent="-342900">
              <a:buFont typeface="+mj-lt"/>
              <a:buAutoNum type="arabicPeriod"/>
            </a:pPr>
            <a:r>
              <a:rPr lang="en-US" sz="2000" dirty="0" smtClean="0"/>
              <a:t>Back End: PHP, MySQL. </a:t>
            </a:r>
          </a:p>
          <a:p>
            <a:pPr marL="342900" indent="-342900">
              <a:buFont typeface="+mj-lt"/>
              <a:buAutoNum type="arabicPeriod"/>
            </a:pPr>
            <a:r>
              <a:rPr lang="en-US" sz="2000" dirty="0" smtClean="0"/>
              <a:t>Local Server: XAMP 5.6.0.0 </a:t>
            </a:r>
          </a:p>
          <a:p>
            <a:pPr marL="342900" indent="-342900">
              <a:buFont typeface="+mj-lt"/>
              <a:buAutoNum type="arabicPeriod"/>
            </a:pPr>
            <a:r>
              <a:rPr lang="en-US" sz="2000" dirty="0" smtClean="0"/>
              <a:t>Code Editor: Sublime Text</a:t>
            </a:r>
            <a:endParaRPr lang="en-US" sz="2000" dirty="0"/>
          </a:p>
        </p:txBody>
      </p:sp>
      <p:pic>
        <p:nvPicPr>
          <p:cNvPr id="10242" name="Picture 2" descr="Image result for software tools images"/>
          <p:cNvPicPr>
            <a:picLocks noChangeAspect="1" noChangeArrowheads="1"/>
          </p:cNvPicPr>
          <p:nvPr/>
        </p:nvPicPr>
        <p:blipFill>
          <a:blip r:embed="rId2"/>
          <a:srcRect/>
          <a:stretch>
            <a:fillRect/>
          </a:stretch>
        </p:blipFill>
        <p:spPr bwMode="auto">
          <a:xfrm>
            <a:off x="1188720" y="1417637"/>
            <a:ext cx="3863340" cy="297180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15</a:t>
            </a:fld>
            <a:endParaRPr lang="en-US" dirty="0"/>
          </a:p>
        </p:txBody>
      </p:sp>
      <p:sp>
        <p:nvSpPr>
          <p:cNvPr id="3" name="Rectangle 2"/>
          <p:cNvSpPr/>
          <p:nvPr/>
        </p:nvSpPr>
        <p:spPr>
          <a:xfrm>
            <a:off x="3429000" y="2560637"/>
            <a:ext cx="5109347" cy="646331"/>
          </a:xfrm>
          <a:prstGeom prst="rect">
            <a:avLst/>
          </a:prstGeom>
        </p:spPr>
        <p:txBody>
          <a:bodyPr wrap="none">
            <a:spAutoFit/>
          </a:bodyPr>
          <a:lstStyle/>
          <a:p>
            <a:pPr algn="ctr"/>
            <a:r>
              <a:rPr lang="en-US" sz="3600" b="1" dirty="0" smtClean="0">
                <a:ln w="11430">
                  <a:solidFill>
                    <a:schemeClr val="tx2">
                      <a:lumMod val="50000"/>
                    </a:schemeClr>
                  </a:solidFill>
                </a:ln>
                <a:effectLst>
                  <a:outerShdw blurRad="50800" dist="39000" dir="5460000" algn="tl">
                    <a:srgbClr val="000000">
                      <a:alpha val="38000"/>
                    </a:srgbClr>
                  </a:outerShdw>
                </a:effectLst>
              </a:rPr>
              <a:t>7.System Implementation</a:t>
            </a:r>
            <a:endParaRPr lang="en-US" sz="36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16</a:t>
            </a:fld>
            <a:endParaRPr lang="en-US" dirty="0"/>
          </a:p>
        </p:txBody>
      </p:sp>
      <p:sp>
        <p:nvSpPr>
          <p:cNvPr id="3" name="Rectangle 2"/>
          <p:cNvSpPr/>
          <p:nvPr/>
        </p:nvSpPr>
        <p:spPr>
          <a:xfrm>
            <a:off x="0" y="0"/>
            <a:ext cx="744114" cy="400110"/>
          </a:xfrm>
          <a:prstGeom prst="rect">
            <a:avLst/>
          </a:prstGeom>
        </p:spPr>
        <p:txBody>
          <a:bodyPr wrap="none">
            <a:spAutoFit/>
          </a:bodyPr>
          <a:lstStyle/>
          <a:p>
            <a:pPr algn="ctr"/>
            <a:r>
              <a:rPr lang="en-US" sz="2000" b="1" dirty="0" smtClean="0">
                <a:ln w="11430">
                  <a:solidFill>
                    <a:schemeClr val="tx2">
                      <a:lumMod val="50000"/>
                    </a:schemeClr>
                  </a:solidFill>
                </a:ln>
                <a:effectLst>
                  <a:outerShdw blurRad="50800" dist="39000" dir="5460000" algn="tl">
                    <a:srgbClr val="000000">
                      <a:alpha val="38000"/>
                    </a:srgbClr>
                  </a:outerShdw>
                </a:effectLst>
              </a:rPr>
              <a:t>ERD :</a:t>
            </a:r>
            <a:endParaRPr lang="en-US" sz="2000" dirty="0"/>
          </a:p>
        </p:txBody>
      </p:sp>
      <p:sp>
        <p:nvSpPr>
          <p:cNvPr id="6" name="Rectangle 5"/>
          <p:cNvSpPr/>
          <p:nvPr/>
        </p:nvSpPr>
        <p:spPr>
          <a:xfrm>
            <a:off x="4495800" y="5456237"/>
            <a:ext cx="2846548" cy="307777"/>
          </a:xfrm>
          <a:prstGeom prst="rect">
            <a:avLst/>
          </a:prstGeom>
        </p:spPr>
        <p:txBody>
          <a:bodyPr wrap="none">
            <a:spAutoFit/>
          </a:bodyPr>
          <a:lstStyle/>
          <a:p>
            <a:pPr algn="ctr"/>
            <a:r>
              <a:rPr lang="en-US" sz="1400" b="1" dirty="0" smtClean="0"/>
              <a:t>Figure : Entity Relationship Diagram</a:t>
            </a:r>
            <a:endParaRPr lang="en-US" sz="1400" b="1" dirty="0"/>
          </a:p>
        </p:txBody>
      </p:sp>
      <p:pic>
        <p:nvPicPr>
          <p:cNvPr id="7" name="Picture 6" descr="Realerdcopy.png"/>
          <p:cNvPicPr>
            <a:picLocks noChangeAspect="1"/>
          </p:cNvPicPr>
          <p:nvPr/>
        </p:nvPicPr>
        <p:blipFill>
          <a:blip r:embed="rId2"/>
          <a:stretch>
            <a:fillRect/>
          </a:stretch>
        </p:blipFill>
        <p:spPr>
          <a:xfrm>
            <a:off x="0" y="0"/>
            <a:ext cx="11887200" cy="5075237"/>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17</a:t>
            </a:fld>
            <a:endParaRPr lang="en-US" dirty="0"/>
          </a:p>
        </p:txBody>
      </p:sp>
      <p:sp>
        <p:nvSpPr>
          <p:cNvPr id="3" name="Rectangle 2"/>
          <p:cNvSpPr/>
          <p:nvPr/>
        </p:nvSpPr>
        <p:spPr>
          <a:xfrm>
            <a:off x="0" y="350837"/>
            <a:ext cx="2216441" cy="400110"/>
          </a:xfrm>
          <a:prstGeom prst="rect">
            <a:avLst/>
          </a:prstGeom>
        </p:spPr>
        <p:txBody>
          <a:bodyPr wrap="none">
            <a:spAutoFit/>
          </a:bodyPr>
          <a:lstStyle/>
          <a:p>
            <a:pPr algn="ctr"/>
            <a:r>
              <a:rPr lang="en-US" sz="2000" b="1" dirty="0" smtClean="0">
                <a:ln w="11430">
                  <a:solidFill>
                    <a:schemeClr val="tx2">
                      <a:lumMod val="50000"/>
                    </a:schemeClr>
                  </a:solidFill>
                </a:ln>
                <a:effectLst>
                  <a:outerShdw blurRad="50800" dist="39000" dir="5460000" algn="tl">
                    <a:srgbClr val="000000">
                      <a:alpha val="38000"/>
                    </a:srgbClr>
                  </a:outerShdw>
                </a:effectLst>
              </a:rPr>
              <a:t>Use Case Diagram: </a:t>
            </a:r>
            <a:endParaRPr lang="en-US" sz="2000" dirty="0" smtClean="0"/>
          </a:p>
        </p:txBody>
      </p:sp>
      <p:sp>
        <p:nvSpPr>
          <p:cNvPr id="5" name="Rectangle 4"/>
          <p:cNvSpPr/>
          <p:nvPr/>
        </p:nvSpPr>
        <p:spPr>
          <a:xfrm>
            <a:off x="3962400" y="5456237"/>
            <a:ext cx="4590617" cy="338554"/>
          </a:xfrm>
          <a:prstGeom prst="rect">
            <a:avLst/>
          </a:prstGeom>
        </p:spPr>
        <p:txBody>
          <a:bodyPr wrap="none">
            <a:spAutoFit/>
          </a:bodyPr>
          <a:lstStyle/>
          <a:p>
            <a:pPr algn="ctr"/>
            <a:r>
              <a:rPr lang="en-US" sz="1600" b="1" dirty="0" smtClean="0"/>
              <a:t>Figure : Users(Owner and Renter) Use Case Diagram</a:t>
            </a:r>
            <a:endParaRPr lang="en-US" sz="1600" b="1" dirty="0"/>
          </a:p>
        </p:txBody>
      </p:sp>
      <p:pic>
        <p:nvPicPr>
          <p:cNvPr id="6" name="Picture 5" descr="C:\Users\User\AppData\Local\Microsoft\Windows\INetCache\Content.Word\use case up.png"/>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09600" y="884237"/>
            <a:ext cx="10972801" cy="4191000"/>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18</a:t>
            </a:fld>
            <a:endParaRPr lang="en-US" dirty="0"/>
          </a:p>
        </p:txBody>
      </p:sp>
      <p:sp>
        <p:nvSpPr>
          <p:cNvPr id="3" name="Rectangle 2"/>
          <p:cNvSpPr/>
          <p:nvPr/>
        </p:nvSpPr>
        <p:spPr>
          <a:xfrm>
            <a:off x="228600" y="350837"/>
            <a:ext cx="1959512" cy="338554"/>
          </a:xfrm>
          <a:prstGeom prst="rect">
            <a:avLst/>
          </a:prstGeom>
        </p:spPr>
        <p:txBody>
          <a:bodyPr wrap="none">
            <a:spAutoFit/>
          </a:bodyPr>
          <a:lstStyle/>
          <a:p>
            <a:pPr algn="ctr"/>
            <a:r>
              <a:rPr lang="en-US" sz="1600" b="1" dirty="0" smtClean="0">
                <a:ln w="11430">
                  <a:solidFill>
                    <a:schemeClr val="tx2">
                      <a:lumMod val="50000"/>
                    </a:schemeClr>
                  </a:solidFill>
                </a:ln>
                <a:effectLst>
                  <a:outerShdw blurRad="50800" dist="39000" dir="5460000" algn="tl">
                    <a:srgbClr val="000000">
                      <a:alpha val="38000"/>
                    </a:srgbClr>
                  </a:outerShdw>
                </a:effectLst>
              </a:rPr>
              <a:t>Use Case Diagram 2: </a:t>
            </a:r>
            <a:endParaRPr lang="en-US" sz="1600" dirty="0" smtClean="0"/>
          </a:p>
        </p:txBody>
      </p:sp>
      <p:sp>
        <p:nvSpPr>
          <p:cNvPr id="5" name="Rectangle 4"/>
          <p:cNvSpPr/>
          <p:nvPr/>
        </p:nvSpPr>
        <p:spPr>
          <a:xfrm>
            <a:off x="4953000" y="4999037"/>
            <a:ext cx="2636106" cy="307777"/>
          </a:xfrm>
          <a:prstGeom prst="rect">
            <a:avLst/>
          </a:prstGeom>
        </p:spPr>
        <p:txBody>
          <a:bodyPr wrap="none">
            <a:spAutoFit/>
          </a:bodyPr>
          <a:lstStyle/>
          <a:p>
            <a:pPr algn="ctr"/>
            <a:r>
              <a:rPr lang="en-US" sz="1400" b="1" dirty="0" smtClean="0"/>
              <a:t>Figure : Admin Use Case Diagram</a:t>
            </a:r>
            <a:endParaRPr lang="en-US" sz="1400" b="1" dirty="0"/>
          </a:p>
        </p:txBody>
      </p:sp>
      <p:pic>
        <p:nvPicPr>
          <p:cNvPr id="6" name="Picture 5" descr="admin use case"/>
          <p:cNvPicPr/>
          <p:nvPr/>
        </p:nvPicPr>
        <p:blipFill>
          <a:blip r:embed="rId2">
            <a:extLst>
              <a:ext uri="{28A0092B-C50C-407E-A947-70E740481C1C}">
                <a14:useLocalDpi xmlns:a14="http://schemas.microsoft.com/office/drawing/2010/main" xmlns="" val="0"/>
              </a:ext>
            </a:extLst>
          </a:blip>
          <a:srcRect/>
          <a:stretch>
            <a:fillRect/>
          </a:stretch>
        </p:blipFill>
        <p:spPr bwMode="auto">
          <a:xfrm>
            <a:off x="1524000" y="1036637"/>
            <a:ext cx="8534400" cy="3595599"/>
          </a:xfrm>
          <a:prstGeom prst="rect">
            <a:avLst/>
          </a:prstGeom>
          <a:noFill/>
          <a:ln>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19</a:t>
            </a:fld>
            <a:endParaRPr lang="en-US" dirty="0"/>
          </a:p>
        </p:txBody>
      </p:sp>
      <p:sp>
        <p:nvSpPr>
          <p:cNvPr id="3" name="Rectangle 2"/>
          <p:cNvSpPr/>
          <p:nvPr/>
        </p:nvSpPr>
        <p:spPr>
          <a:xfrm>
            <a:off x="533400" y="427037"/>
            <a:ext cx="1412503" cy="369332"/>
          </a:xfrm>
          <a:prstGeom prst="rect">
            <a:avLst/>
          </a:prstGeom>
        </p:spPr>
        <p:txBody>
          <a:bodyPr wrap="none">
            <a:spAutoFit/>
          </a:bodyPr>
          <a:lstStyle/>
          <a:p>
            <a:pPr algn="ctr"/>
            <a:r>
              <a:rPr lang="en-US" sz="1800" b="1" dirty="0" smtClean="0">
                <a:ln w="11430">
                  <a:solidFill>
                    <a:schemeClr val="tx2">
                      <a:lumMod val="50000"/>
                    </a:schemeClr>
                  </a:solidFill>
                </a:ln>
                <a:effectLst>
                  <a:outerShdw blurRad="50800" dist="39000" dir="5460000" algn="tl">
                    <a:srgbClr val="000000">
                      <a:alpha val="38000"/>
                    </a:srgbClr>
                  </a:outerShdw>
                </a:effectLst>
              </a:rPr>
              <a:t>Level 0 DFD: </a:t>
            </a:r>
            <a:endParaRPr lang="en-US" sz="1800" dirty="0" smtClean="0"/>
          </a:p>
        </p:txBody>
      </p:sp>
      <p:sp>
        <p:nvSpPr>
          <p:cNvPr id="5" name="Rectangle 4"/>
          <p:cNvSpPr/>
          <p:nvPr/>
        </p:nvSpPr>
        <p:spPr>
          <a:xfrm>
            <a:off x="4495800" y="5380037"/>
            <a:ext cx="1637244" cy="307777"/>
          </a:xfrm>
          <a:prstGeom prst="rect">
            <a:avLst/>
          </a:prstGeom>
        </p:spPr>
        <p:txBody>
          <a:bodyPr wrap="none">
            <a:spAutoFit/>
          </a:bodyPr>
          <a:lstStyle/>
          <a:p>
            <a:pPr algn="ctr"/>
            <a:r>
              <a:rPr lang="en-US" sz="1400" b="1" dirty="0" smtClean="0"/>
              <a:t>Figure : Level 0 DFD</a:t>
            </a:r>
            <a:endParaRPr lang="en-US" sz="1400" b="1" dirty="0"/>
          </a:p>
        </p:txBody>
      </p:sp>
      <p:pic>
        <p:nvPicPr>
          <p:cNvPr id="6" name="Picture 5" descr="0 DFD"/>
          <p:cNvPicPr/>
          <p:nvPr/>
        </p:nvPicPr>
        <p:blipFill>
          <a:blip r:embed="rId2">
            <a:extLst>
              <a:ext uri="{28A0092B-C50C-407E-A947-70E740481C1C}">
                <a14:useLocalDpi xmlns:a14="http://schemas.microsoft.com/office/drawing/2010/main" xmlns="" val="0"/>
              </a:ext>
            </a:extLst>
          </a:blip>
          <a:srcRect/>
          <a:stretch>
            <a:fillRect/>
          </a:stretch>
        </p:blipFill>
        <p:spPr bwMode="auto">
          <a:xfrm>
            <a:off x="1600200" y="808037"/>
            <a:ext cx="9296400" cy="4419600"/>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20</a:t>
            </a:fld>
            <a:endParaRPr lang="en-US" dirty="0"/>
          </a:p>
        </p:txBody>
      </p:sp>
      <p:sp>
        <p:nvSpPr>
          <p:cNvPr id="3" name="Rectangle 2"/>
          <p:cNvSpPr/>
          <p:nvPr/>
        </p:nvSpPr>
        <p:spPr>
          <a:xfrm>
            <a:off x="381000" y="350837"/>
            <a:ext cx="2345450" cy="369332"/>
          </a:xfrm>
          <a:prstGeom prst="rect">
            <a:avLst/>
          </a:prstGeom>
        </p:spPr>
        <p:txBody>
          <a:bodyPr wrap="none">
            <a:spAutoFit/>
          </a:bodyPr>
          <a:lstStyle/>
          <a:p>
            <a:pPr algn="ctr"/>
            <a:r>
              <a:rPr lang="en-US" sz="1800" b="1" dirty="0" smtClean="0">
                <a:ln w="11430">
                  <a:solidFill>
                    <a:schemeClr val="tx2">
                      <a:lumMod val="50000"/>
                    </a:schemeClr>
                  </a:solidFill>
                </a:ln>
                <a:effectLst>
                  <a:outerShdw blurRad="50800" dist="39000" dir="5460000" algn="tl">
                    <a:srgbClr val="000000">
                      <a:alpha val="38000"/>
                    </a:srgbClr>
                  </a:outerShdw>
                </a:effectLst>
              </a:rPr>
              <a:t>Level 1 DFD of Admin: </a:t>
            </a:r>
            <a:endParaRPr lang="en-US" sz="1800" dirty="0" smtClean="0"/>
          </a:p>
        </p:txBody>
      </p:sp>
      <p:sp>
        <p:nvSpPr>
          <p:cNvPr id="5" name="Rectangle 4"/>
          <p:cNvSpPr/>
          <p:nvPr/>
        </p:nvSpPr>
        <p:spPr>
          <a:xfrm>
            <a:off x="4648200" y="5227637"/>
            <a:ext cx="2680094" cy="338554"/>
          </a:xfrm>
          <a:prstGeom prst="rect">
            <a:avLst/>
          </a:prstGeom>
        </p:spPr>
        <p:txBody>
          <a:bodyPr wrap="none">
            <a:spAutoFit/>
          </a:bodyPr>
          <a:lstStyle/>
          <a:p>
            <a:pPr algn="ctr"/>
            <a:r>
              <a:rPr lang="en-US" sz="1600" b="1" dirty="0" smtClean="0"/>
              <a:t>Figure : Level 1 DFD of Admin</a:t>
            </a:r>
            <a:endParaRPr lang="en-US" sz="1600" b="1" dirty="0"/>
          </a:p>
        </p:txBody>
      </p:sp>
      <p:pic>
        <p:nvPicPr>
          <p:cNvPr id="7" name="Picture 6" descr="dfdAdmin1"/>
          <p:cNvPicPr/>
          <p:nvPr/>
        </p:nvPicPr>
        <p:blipFill>
          <a:blip r:embed="rId2">
            <a:extLst>
              <a:ext uri="{28A0092B-C50C-407E-A947-70E740481C1C}">
                <a14:useLocalDpi xmlns:a14="http://schemas.microsoft.com/office/drawing/2010/main" xmlns="" val="0"/>
              </a:ext>
            </a:extLst>
          </a:blip>
          <a:srcRect/>
          <a:stretch>
            <a:fillRect/>
          </a:stretch>
        </p:blipFill>
        <p:spPr bwMode="auto">
          <a:xfrm>
            <a:off x="990600" y="1112837"/>
            <a:ext cx="10591800" cy="3878580"/>
          </a:xfrm>
          <a:prstGeom prst="rect">
            <a:avLst/>
          </a:prstGeom>
          <a:noFill/>
          <a:ln>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21</a:t>
            </a:fld>
            <a:endParaRPr lang="en-US" dirty="0"/>
          </a:p>
        </p:txBody>
      </p:sp>
      <p:sp>
        <p:nvSpPr>
          <p:cNvPr id="3" name="Rectangle 2"/>
          <p:cNvSpPr/>
          <p:nvPr/>
        </p:nvSpPr>
        <p:spPr>
          <a:xfrm>
            <a:off x="533400" y="579437"/>
            <a:ext cx="2169441" cy="338554"/>
          </a:xfrm>
          <a:prstGeom prst="rect">
            <a:avLst/>
          </a:prstGeom>
        </p:spPr>
        <p:txBody>
          <a:bodyPr wrap="none">
            <a:spAutoFit/>
          </a:bodyPr>
          <a:lstStyle/>
          <a:p>
            <a:pPr algn="ctr"/>
            <a:r>
              <a:rPr lang="en-US" sz="1600" b="1" dirty="0" smtClean="0">
                <a:ln w="11430">
                  <a:solidFill>
                    <a:schemeClr val="tx2">
                      <a:lumMod val="50000"/>
                    </a:schemeClr>
                  </a:solidFill>
                </a:ln>
                <a:effectLst>
                  <a:outerShdw blurRad="50800" dist="39000" dir="5460000" algn="tl">
                    <a:srgbClr val="000000">
                      <a:alpha val="38000"/>
                    </a:srgbClr>
                  </a:outerShdw>
                </a:effectLst>
              </a:rPr>
              <a:t>Level 1 DFD of  Owner: </a:t>
            </a:r>
            <a:endParaRPr lang="en-US" sz="1600" dirty="0" smtClean="0"/>
          </a:p>
        </p:txBody>
      </p:sp>
      <p:sp>
        <p:nvSpPr>
          <p:cNvPr id="5" name="Rectangle 4"/>
          <p:cNvSpPr/>
          <p:nvPr/>
        </p:nvSpPr>
        <p:spPr>
          <a:xfrm>
            <a:off x="4648200" y="5532437"/>
            <a:ext cx="2374625" cy="307777"/>
          </a:xfrm>
          <a:prstGeom prst="rect">
            <a:avLst/>
          </a:prstGeom>
        </p:spPr>
        <p:txBody>
          <a:bodyPr wrap="none">
            <a:spAutoFit/>
          </a:bodyPr>
          <a:lstStyle/>
          <a:p>
            <a:pPr algn="ctr"/>
            <a:r>
              <a:rPr lang="en-US" sz="1400" b="1" dirty="0" smtClean="0"/>
              <a:t>Figure : Level 1 DFD of Owner</a:t>
            </a:r>
            <a:endParaRPr lang="en-US" sz="1400" b="1" dirty="0"/>
          </a:p>
        </p:txBody>
      </p:sp>
      <p:pic>
        <p:nvPicPr>
          <p:cNvPr id="7" name="Picture 6" descr="DfdOwner"/>
          <p:cNvPicPr/>
          <p:nvPr/>
        </p:nvPicPr>
        <p:blipFill>
          <a:blip r:embed="rId2">
            <a:extLst>
              <a:ext uri="{28A0092B-C50C-407E-A947-70E740481C1C}">
                <a14:useLocalDpi xmlns:a14="http://schemas.microsoft.com/office/drawing/2010/main" xmlns="" val="0"/>
              </a:ext>
            </a:extLst>
          </a:blip>
          <a:srcRect/>
          <a:stretch>
            <a:fillRect/>
          </a:stretch>
        </p:blipFill>
        <p:spPr bwMode="auto">
          <a:xfrm>
            <a:off x="457200" y="1069372"/>
            <a:ext cx="10363200" cy="4158265"/>
          </a:xfrm>
          <a:prstGeom prst="rect">
            <a:avLst/>
          </a:prstGeom>
          <a:noFill/>
          <a:ln>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22</a:t>
            </a:fld>
            <a:endParaRPr lang="en-US" dirty="0"/>
          </a:p>
        </p:txBody>
      </p:sp>
      <p:sp>
        <p:nvSpPr>
          <p:cNvPr id="3" name="Rectangle 2"/>
          <p:cNvSpPr/>
          <p:nvPr/>
        </p:nvSpPr>
        <p:spPr>
          <a:xfrm>
            <a:off x="228600" y="198437"/>
            <a:ext cx="2205284" cy="338554"/>
          </a:xfrm>
          <a:prstGeom prst="rect">
            <a:avLst/>
          </a:prstGeom>
        </p:spPr>
        <p:txBody>
          <a:bodyPr wrap="none">
            <a:spAutoFit/>
          </a:bodyPr>
          <a:lstStyle/>
          <a:p>
            <a:pPr algn="ctr"/>
            <a:r>
              <a:rPr lang="en-US" sz="1600" b="1" dirty="0" smtClean="0">
                <a:ln w="11430">
                  <a:solidFill>
                    <a:schemeClr val="tx2">
                      <a:lumMod val="50000"/>
                    </a:schemeClr>
                  </a:solidFill>
                </a:ln>
                <a:effectLst>
                  <a:outerShdw blurRad="50800" dist="39000" dir="5460000" algn="tl">
                    <a:srgbClr val="000000">
                      <a:alpha val="38000"/>
                    </a:srgbClr>
                  </a:outerShdw>
                </a:effectLst>
              </a:rPr>
              <a:t>Level  1 DFD of  Renter: </a:t>
            </a:r>
            <a:endParaRPr lang="en-US" sz="1600" dirty="0" smtClean="0"/>
          </a:p>
        </p:txBody>
      </p:sp>
      <p:sp>
        <p:nvSpPr>
          <p:cNvPr id="5" name="Rectangle 4"/>
          <p:cNvSpPr/>
          <p:nvPr/>
        </p:nvSpPr>
        <p:spPr>
          <a:xfrm>
            <a:off x="4800600" y="5532437"/>
            <a:ext cx="2366545" cy="307777"/>
          </a:xfrm>
          <a:prstGeom prst="rect">
            <a:avLst/>
          </a:prstGeom>
        </p:spPr>
        <p:txBody>
          <a:bodyPr wrap="none">
            <a:spAutoFit/>
          </a:bodyPr>
          <a:lstStyle/>
          <a:p>
            <a:pPr algn="ctr"/>
            <a:r>
              <a:rPr lang="en-US" sz="1400" b="1" dirty="0" smtClean="0"/>
              <a:t>Figure : Level 1 DFD of Renter</a:t>
            </a:r>
            <a:endParaRPr lang="en-US" sz="1400" b="1" dirty="0"/>
          </a:p>
        </p:txBody>
      </p:sp>
      <p:pic>
        <p:nvPicPr>
          <p:cNvPr id="7" name="Picture 6" descr="C:\Users\User\AppData\Local\Microsoft\Windows\INetCache\Content.Word\Dfdrenter.png"/>
          <p:cNvPicPr/>
          <p:nvPr/>
        </p:nvPicPr>
        <p:blipFill>
          <a:blip r:embed="rId2">
            <a:extLst>
              <a:ext uri="{28A0092B-C50C-407E-A947-70E740481C1C}">
                <a14:useLocalDpi xmlns:a14="http://schemas.microsoft.com/office/drawing/2010/main" xmlns="" val="0"/>
              </a:ext>
            </a:extLst>
          </a:blip>
          <a:srcRect/>
          <a:stretch>
            <a:fillRect/>
          </a:stretch>
        </p:blipFill>
        <p:spPr bwMode="auto">
          <a:xfrm>
            <a:off x="533400" y="655638"/>
            <a:ext cx="10439399" cy="4572000"/>
          </a:xfrm>
          <a:prstGeom prst="rect">
            <a:avLst/>
          </a:prstGeom>
          <a:noFill/>
          <a:ln>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23</a:t>
            </a:fld>
            <a:endParaRPr lang="en-US" dirty="0"/>
          </a:p>
        </p:txBody>
      </p:sp>
      <p:sp>
        <p:nvSpPr>
          <p:cNvPr id="4" name="Rectangle 3"/>
          <p:cNvSpPr/>
          <p:nvPr/>
        </p:nvSpPr>
        <p:spPr>
          <a:xfrm>
            <a:off x="609600" y="427037"/>
            <a:ext cx="2014847" cy="369332"/>
          </a:xfrm>
          <a:prstGeom prst="rect">
            <a:avLst/>
          </a:prstGeom>
        </p:spPr>
        <p:txBody>
          <a:bodyPr wrap="none">
            <a:spAutoFit/>
          </a:bodyPr>
          <a:lstStyle/>
          <a:p>
            <a:pPr algn="ctr"/>
            <a:r>
              <a:rPr lang="en-US" sz="1800" b="1" dirty="0" smtClean="0">
                <a:ln w="11430">
                  <a:solidFill>
                    <a:schemeClr val="tx2">
                      <a:lumMod val="50000"/>
                    </a:schemeClr>
                  </a:solidFill>
                </a:ln>
                <a:effectLst>
                  <a:outerShdw blurRad="50800" dist="39000" dir="5460000" algn="tl">
                    <a:srgbClr val="000000">
                      <a:alpha val="38000"/>
                    </a:srgbClr>
                  </a:outerShdw>
                </a:effectLst>
              </a:rPr>
              <a:t>Admin Flow Chart: </a:t>
            </a:r>
            <a:endParaRPr lang="en-US" sz="1800" dirty="0" smtClean="0"/>
          </a:p>
        </p:txBody>
      </p:sp>
      <p:sp>
        <p:nvSpPr>
          <p:cNvPr id="5" name="Rectangle 4"/>
          <p:cNvSpPr/>
          <p:nvPr/>
        </p:nvSpPr>
        <p:spPr>
          <a:xfrm>
            <a:off x="4876800" y="5532437"/>
            <a:ext cx="2387706" cy="338554"/>
          </a:xfrm>
          <a:prstGeom prst="rect">
            <a:avLst/>
          </a:prstGeom>
        </p:spPr>
        <p:txBody>
          <a:bodyPr wrap="none">
            <a:spAutoFit/>
          </a:bodyPr>
          <a:lstStyle/>
          <a:p>
            <a:pPr algn="ctr"/>
            <a:r>
              <a:rPr lang="en-US" sz="1600" b="1" dirty="0" smtClean="0"/>
              <a:t>Figure : Admin Flow Chart</a:t>
            </a:r>
            <a:endParaRPr lang="en-US" sz="1600" b="1" dirty="0"/>
          </a:p>
        </p:txBody>
      </p:sp>
      <p:pic>
        <p:nvPicPr>
          <p:cNvPr id="6" name="Picture 5" descr="Adminflow"/>
          <p:cNvPicPr/>
          <p:nvPr/>
        </p:nvPicPr>
        <p:blipFill>
          <a:blip r:embed="rId2">
            <a:extLst>
              <a:ext uri="{28A0092B-C50C-407E-A947-70E740481C1C}">
                <a14:useLocalDpi xmlns:a14="http://schemas.microsoft.com/office/drawing/2010/main" xmlns="" val="0"/>
              </a:ext>
            </a:extLst>
          </a:blip>
          <a:srcRect/>
          <a:stretch>
            <a:fillRect/>
          </a:stretch>
        </p:blipFill>
        <p:spPr bwMode="auto">
          <a:xfrm>
            <a:off x="3276600" y="731837"/>
            <a:ext cx="5105400" cy="4572000"/>
          </a:xfrm>
          <a:prstGeom prst="rect">
            <a:avLst/>
          </a:prstGeom>
          <a:noFill/>
          <a:ln>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24</a:t>
            </a:fld>
            <a:endParaRPr lang="en-US" dirty="0"/>
          </a:p>
        </p:txBody>
      </p:sp>
      <p:sp>
        <p:nvSpPr>
          <p:cNvPr id="3" name="Rectangle 2"/>
          <p:cNvSpPr/>
          <p:nvPr/>
        </p:nvSpPr>
        <p:spPr>
          <a:xfrm>
            <a:off x="762000" y="579437"/>
            <a:ext cx="1774460" cy="338554"/>
          </a:xfrm>
          <a:prstGeom prst="rect">
            <a:avLst/>
          </a:prstGeom>
        </p:spPr>
        <p:txBody>
          <a:bodyPr wrap="none">
            <a:spAutoFit/>
          </a:bodyPr>
          <a:lstStyle/>
          <a:p>
            <a:pPr algn="ctr"/>
            <a:r>
              <a:rPr lang="en-US" sz="1600" b="1" dirty="0" smtClean="0">
                <a:ln w="11430">
                  <a:solidFill>
                    <a:schemeClr val="tx2">
                      <a:lumMod val="50000"/>
                    </a:schemeClr>
                  </a:solidFill>
                </a:ln>
                <a:effectLst>
                  <a:outerShdw blurRad="50800" dist="39000" dir="5460000" algn="tl">
                    <a:srgbClr val="000000">
                      <a:alpha val="38000"/>
                    </a:srgbClr>
                  </a:outerShdw>
                </a:effectLst>
              </a:rPr>
              <a:t>Owner Flow Chart </a:t>
            </a:r>
            <a:endParaRPr lang="en-US" sz="1600" dirty="0" smtClean="0"/>
          </a:p>
        </p:txBody>
      </p:sp>
      <p:sp>
        <p:nvSpPr>
          <p:cNvPr id="5" name="Rectangle 4"/>
          <p:cNvSpPr/>
          <p:nvPr/>
        </p:nvSpPr>
        <p:spPr>
          <a:xfrm>
            <a:off x="4953000" y="5532437"/>
            <a:ext cx="2120389" cy="307777"/>
          </a:xfrm>
          <a:prstGeom prst="rect">
            <a:avLst/>
          </a:prstGeom>
        </p:spPr>
        <p:txBody>
          <a:bodyPr wrap="none">
            <a:spAutoFit/>
          </a:bodyPr>
          <a:lstStyle/>
          <a:p>
            <a:pPr algn="ctr"/>
            <a:r>
              <a:rPr lang="en-US" sz="1400" b="1" dirty="0" smtClean="0"/>
              <a:t>Figure : Owner Flow Chart</a:t>
            </a:r>
            <a:endParaRPr lang="en-US" sz="1400" b="1" dirty="0"/>
          </a:p>
        </p:txBody>
      </p:sp>
      <p:pic>
        <p:nvPicPr>
          <p:cNvPr id="6" name="Picture 5" descr="owner up"/>
          <p:cNvPicPr/>
          <p:nvPr/>
        </p:nvPicPr>
        <p:blipFill>
          <a:blip r:embed="rId2">
            <a:extLst>
              <a:ext uri="{28A0092B-C50C-407E-A947-70E740481C1C}">
                <a14:useLocalDpi xmlns:a14="http://schemas.microsoft.com/office/drawing/2010/main" xmlns="" val="0"/>
              </a:ext>
            </a:extLst>
          </a:blip>
          <a:srcRect/>
          <a:stretch>
            <a:fillRect/>
          </a:stretch>
        </p:blipFill>
        <p:spPr bwMode="auto">
          <a:xfrm>
            <a:off x="2895600" y="579437"/>
            <a:ext cx="5562600" cy="4648200"/>
          </a:xfrm>
          <a:prstGeom prst="rect">
            <a:avLst/>
          </a:prstGeom>
          <a:noFill/>
          <a:ln>
            <a:no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25</a:t>
            </a:fld>
            <a:endParaRPr lang="en-US" dirty="0"/>
          </a:p>
        </p:txBody>
      </p:sp>
      <p:sp>
        <p:nvSpPr>
          <p:cNvPr id="3" name="Rectangle 2"/>
          <p:cNvSpPr/>
          <p:nvPr/>
        </p:nvSpPr>
        <p:spPr>
          <a:xfrm>
            <a:off x="609600" y="503237"/>
            <a:ext cx="1958421" cy="369332"/>
          </a:xfrm>
          <a:prstGeom prst="rect">
            <a:avLst/>
          </a:prstGeom>
        </p:spPr>
        <p:txBody>
          <a:bodyPr wrap="none">
            <a:spAutoFit/>
          </a:bodyPr>
          <a:lstStyle/>
          <a:p>
            <a:pPr algn="ctr"/>
            <a:r>
              <a:rPr lang="en-US" sz="1800" b="1" dirty="0" smtClean="0">
                <a:ln w="11430">
                  <a:solidFill>
                    <a:schemeClr val="tx2">
                      <a:lumMod val="50000"/>
                    </a:schemeClr>
                  </a:solidFill>
                </a:ln>
                <a:effectLst>
                  <a:outerShdw blurRad="50800" dist="39000" dir="5460000" algn="tl">
                    <a:srgbClr val="000000">
                      <a:alpha val="38000"/>
                    </a:srgbClr>
                  </a:outerShdw>
                </a:effectLst>
              </a:rPr>
              <a:t>Renter Flow Chart </a:t>
            </a:r>
            <a:endParaRPr lang="en-US" sz="1800" dirty="0" smtClean="0"/>
          </a:p>
        </p:txBody>
      </p:sp>
      <p:sp>
        <p:nvSpPr>
          <p:cNvPr id="5" name="Rectangle 4"/>
          <p:cNvSpPr/>
          <p:nvPr/>
        </p:nvSpPr>
        <p:spPr>
          <a:xfrm>
            <a:off x="4724400" y="5456237"/>
            <a:ext cx="2393091" cy="338554"/>
          </a:xfrm>
          <a:prstGeom prst="rect">
            <a:avLst/>
          </a:prstGeom>
        </p:spPr>
        <p:txBody>
          <a:bodyPr wrap="none">
            <a:spAutoFit/>
          </a:bodyPr>
          <a:lstStyle/>
          <a:p>
            <a:pPr algn="ctr"/>
            <a:r>
              <a:rPr lang="en-US" sz="1600" b="1" dirty="0" smtClean="0"/>
              <a:t>Figure : Renter Flow Chart</a:t>
            </a:r>
            <a:endParaRPr lang="en-US" sz="1600" b="1" dirty="0"/>
          </a:p>
        </p:txBody>
      </p:sp>
      <p:pic>
        <p:nvPicPr>
          <p:cNvPr id="6" name="Picture 5" descr="Renterflow"/>
          <p:cNvPicPr/>
          <p:nvPr/>
        </p:nvPicPr>
        <p:blipFill>
          <a:blip r:embed="rId2">
            <a:extLst>
              <a:ext uri="{28A0092B-C50C-407E-A947-70E740481C1C}">
                <a14:useLocalDpi xmlns:a14="http://schemas.microsoft.com/office/drawing/2010/main" xmlns="" val="0"/>
              </a:ext>
            </a:extLst>
          </a:blip>
          <a:srcRect/>
          <a:stretch>
            <a:fillRect/>
          </a:stretch>
        </p:blipFill>
        <p:spPr bwMode="auto">
          <a:xfrm>
            <a:off x="3124200" y="427037"/>
            <a:ext cx="6019800" cy="4572000"/>
          </a:xfrm>
          <a:prstGeom prst="rect">
            <a:avLst/>
          </a:prstGeom>
          <a:noFill/>
          <a:ln>
            <a:noFill/>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26</a:t>
            </a:fld>
            <a:endParaRPr lang="en-US" dirty="0"/>
          </a:p>
        </p:txBody>
      </p:sp>
      <p:sp>
        <p:nvSpPr>
          <p:cNvPr id="3" name="Rectangle 2"/>
          <p:cNvSpPr/>
          <p:nvPr/>
        </p:nvSpPr>
        <p:spPr>
          <a:xfrm>
            <a:off x="304800" y="350837"/>
            <a:ext cx="1457643" cy="338554"/>
          </a:xfrm>
          <a:prstGeom prst="rect">
            <a:avLst/>
          </a:prstGeom>
        </p:spPr>
        <p:txBody>
          <a:bodyPr wrap="none">
            <a:spAutoFit/>
          </a:bodyPr>
          <a:lstStyle/>
          <a:p>
            <a:pPr algn="ctr"/>
            <a:r>
              <a:rPr lang="en-US" sz="1600" b="1" dirty="0" smtClean="0">
                <a:ln w="11430">
                  <a:solidFill>
                    <a:schemeClr val="tx2">
                      <a:lumMod val="50000"/>
                    </a:schemeClr>
                  </a:solidFill>
                </a:ln>
                <a:effectLst>
                  <a:outerShdw blurRad="50800" dist="39000" dir="5460000" algn="tl">
                    <a:srgbClr val="000000">
                      <a:alpha val="38000"/>
                    </a:srgbClr>
                  </a:outerShdw>
                </a:effectLst>
              </a:rPr>
              <a:t>Pictorial View :</a:t>
            </a:r>
            <a:endParaRPr lang="en-US" sz="1600" dirty="0" smtClean="0"/>
          </a:p>
        </p:txBody>
      </p:sp>
      <p:sp>
        <p:nvSpPr>
          <p:cNvPr id="5" name="Rectangle 4"/>
          <p:cNvSpPr/>
          <p:nvPr/>
        </p:nvSpPr>
        <p:spPr>
          <a:xfrm>
            <a:off x="4724400" y="5532437"/>
            <a:ext cx="3671390" cy="307777"/>
          </a:xfrm>
          <a:prstGeom prst="rect">
            <a:avLst/>
          </a:prstGeom>
        </p:spPr>
        <p:txBody>
          <a:bodyPr wrap="none">
            <a:spAutoFit/>
          </a:bodyPr>
          <a:lstStyle/>
          <a:p>
            <a:pPr algn="ctr"/>
            <a:r>
              <a:rPr lang="en-US" sz="1400" b="1" dirty="0" smtClean="0"/>
              <a:t>Figure : Pictorial View of  </a:t>
            </a:r>
            <a:r>
              <a:rPr lang="en-US" sz="1400" b="1" dirty="0" err="1" smtClean="0"/>
              <a:t>Amader</a:t>
            </a:r>
            <a:r>
              <a:rPr lang="en-US" sz="1400" b="1" dirty="0" smtClean="0"/>
              <a:t> </a:t>
            </a:r>
            <a:r>
              <a:rPr lang="en-US" sz="1400" b="1" dirty="0" err="1" smtClean="0"/>
              <a:t>Adhunik</a:t>
            </a:r>
            <a:r>
              <a:rPr lang="en-US" sz="1400" b="1" dirty="0" smtClean="0"/>
              <a:t> Bari</a:t>
            </a:r>
            <a:endParaRPr lang="en-US" sz="1400" b="1" dirty="0"/>
          </a:p>
        </p:txBody>
      </p:sp>
      <p:pic>
        <p:nvPicPr>
          <p:cNvPr id="6" name="Picture 5" descr="pic-kaw.png"/>
          <p:cNvPicPr>
            <a:picLocks noChangeAspect="1"/>
          </p:cNvPicPr>
          <p:nvPr/>
        </p:nvPicPr>
        <p:blipFill>
          <a:blip r:embed="rId2"/>
          <a:stretch>
            <a:fillRect/>
          </a:stretch>
        </p:blipFill>
        <p:spPr>
          <a:xfrm>
            <a:off x="1066799" y="274637"/>
            <a:ext cx="8916537" cy="533400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27</a:t>
            </a:fld>
            <a:endParaRPr lang="en-US" dirty="0"/>
          </a:p>
        </p:txBody>
      </p:sp>
      <p:sp>
        <p:nvSpPr>
          <p:cNvPr id="4" name="Rectangle 3"/>
          <p:cNvSpPr/>
          <p:nvPr/>
        </p:nvSpPr>
        <p:spPr>
          <a:xfrm>
            <a:off x="4259580" y="198437"/>
            <a:ext cx="1787605" cy="369332"/>
          </a:xfrm>
          <a:prstGeom prst="rect">
            <a:avLst/>
          </a:prstGeom>
        </p:spPr>
        <p:txBody>
          <a:bodyPr wrap="none">
            <a:spAutoFit/>
          </a:bodyPr>
          <a:lstStyle/>
          <a:p>
            <a:r>
              <a:rPr lang="en-US" sz="1800" b="1" dirty="0" smtClean="0">
                <a:ln w="11430">
                  <a:solidFill>
                    <a:schemeClr val="tx2">
                      <a:lumMod val="50000"/>
                    </a:schemeClr>
                  </a:solidFill>
                </a:ln>
                <a:effectLst>
                  <a:outerShdw blurRad="50800" dist="39000" dir="5460000" algn="tl">
                    <a:srgbClr val="000000">
                      <a:alpha val="38000"/>
                    </a:srgbClr>
                  </a:outerShdw>
                </a:effectLst>
              </a:rPr>
              <a:t>8.Result Analysis</a:t>
            </a:r>
            <a:endParaRPr lang="en-US" sz="1800" dirty="0"/>
          </a:p>
        </p:txBody>
      </p:sp>
      <p:sp>
        <p:nvSpPr>
          <p:cNvPr id="5" name="Rectangle 4"/>
          <p:cNvSpPr/>
          <p:nvPr/>
        </p:nvSpPr>
        <p:spPr>
          <a:xfrm>
            <a:off x="1089661" y="1036637"/>
            <a:ext cx="1807482" cy="338554"/>
          </a:xfrm>
          <a:prstGeom prst="rect">
            <a:avLst/>
          </a:prstGeom>
        </p:spPr>
        <p:txBody>
          <a:bodyPr wrap="none">
            <a:spAutoFit/>
          </a:bodyPr>
          <a:lstStyle/>
          <a:p>
            <a:r>
              <a:rPr lang="en-US" sz="1600" b="1" dirty="0" smtClean="0">
                <a:ln w="11430">
                  <a:solidFill>
                    <a:schemeClr val="tx2">
                      <a:lumMod val="50000"/>
                    </a:schemeClr>
                  </a:solidFill>
                </a:ln>
                <a:effectLst>
                  <a:outerShdw blurRad="50800" dist="39000" dir="5460000" algn="tl">
                    <a:srgbClr val="000000">
                      <a:alpha val="38000"/>
                    </a:srgbClr>
                  </a:outerShdw>
                </a:effectLst>
              </a:rPr>
              <a:t>White Box Testing :</a:t>
            </a:r>
            <a:endParaRPr lang="en-US" sz="1600" dirty="0"/>
          </a:p>
        </p:txBody>
      </p:sp>
      <p:sp>
        <p:nvSpPr>
          <p:cNvPr id="7" name="Rectangle 6"/>
          <p:cNvSpPr/>
          <p:nvPr/>
        </p:nvSpPr>
        <p:spPr>
          <a:xfrm>
            <a:off x="3962400" y="5532437"/>
            <a:ext cx="5724003" cy="307777"/>
          </a:xfrm>
          <a:prstGeom prst="rect">
            <a:avLst/>
          </a:prstGeom>
        </p:spPr>
        <p:txBody>
          <a:bodyPr wrap="none">
            <a:spAutoFit/>
          </a:bodyPr>
          <a:lstStyle/>
          <a:p>
            <a:pPr algn="ctr"/>
            <a:r>
              <a:rPr lang="en-US" sz="1400" b="1" dirty="0" smtClean="0"/>
              <a:t>Figure : Cannot registration if important fields are same with previous user</a:t>
            </a:r>
            <a:endParaRPr lang="en-US" sz="1400" b="1" dirty="0"/>
          </a:p>
        </p:txBody>
      </p:sp>
      <p:pic>
        <p:nvPicPr>
          <p:cNvPr id="8" name="Picture 7"/>
          <p:cNvPicPr/>
          <p:nvPr/>
        </p:nvPicPr>
        <p:blipFill>
          <a:blip r:embed="rId2"/>
          <a:srcRect/>
          <a:stretch>
            <a:fillRect/>
          </a:stretch>
        </p:blipFill>
        <p:spPr bwMode="auto">
          <a:xfrm>
            <a:off x="1676400" y="1798637"/>
            <a:ext cx="9220200" cy="3352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28</a:t>
            </a:fld>
            <a:endParaRPr lang="en-US" dirty="0"/>
          </a:p>
        </p:txBody>
      </p:sp>
      <p:pic>
        <p:nvPicPr>
          <p:cNvPr id="4" name="Picture 2"/>
          <p:cNvPicPr>
            <a:picLocks noChangeAspect="1" noChangeArrowheads="1"/>
          </p:cNvPicPr>
          <p:nvPr/>
        </p:nvPicPr>
        <p:blipFill>
          <a:blip r:embed="rId2"/>
          <a:srcRect/>
          <a:stretch>
            <a:fillRect/>
          </a:stretch>
        </p:blipFill>
        <p:spPr bwMode="auto">
          <a:xfrm>
            <a:off x="1295400" y="503237"/>
            <a:ext cx="9677400" cy="4362450"/>
          </a:xfrm>
          <a:prstGeom prst="rect">
            <a:avLst/>
          </a:prstGeom>
          <a:noFill/>
          <a:ln w="9525">
            <a:noFill/>
            <a:miter lim="800000"/>
            <a:headEnd/>
            <a:tailEnd/>
          </a:ln>
          <a:effectLst/>
        </p:spPr>
      </p:pic>
      <p:sp>
        <p:nvSpPr>
          <p:cNvPr id="5" name="Rectangle 4"/>
          <p:cNvSpPr/>
          <p:nvPr/>
        </p:nvSpPr>
        <p:spPr>
          <a:xfrm>
            <a:off x="3505200" y="5227637"/>
            <a:ext cx="5943600" cy="338554"/>
          </a:xfrm>
          <a:prstGeom prst="rect">
            <a:avLst/>
          </a:prstGeom>
        </p:spPr>
        <p:txBody>
          <a:bodyPr wrap="square">
            <a:spAutoFit/>
          </a:bodyPr>
          <a:lstStyle/>
          <a:p>
            <a:pPr algn="ctr"/>
            <a:r>
              <a:rPr lang="en-US" sz="1600" b="1" dirty="0" smtClean="0"/>
              <a:t>Figure: Cannot login if Email and password is wrong</a:t>
            </a:r>
            <a:endParaRPr lang="en-US" sz="1600" b="1"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29</a:t>
            </a:fld>
            <a:endParaRPr lang="en-US" dirty="0"/>
          </a:p>
        </p:txBody>
      </p:sp>
      <p:pic>
        <p:nvPicPr>
          <p:cNvPr id="3" name="Picture 2"/>
          <p:cNvPicPr/>
          <p:nvPr/>
        </p:nvPicPr>
        <p:blipFill>
          <a:blip r:embed="rId2"/>
          <a:srcRect/>
          <a:stretch>
            <a:fillRect/>
          </a:stretch>
        </p:blipFill>
        <p:spPr bwMode="auto">
          <a:xfrm>
            <a:off x="1981200" y="427037"/>
            <a:ext cx="8001000" cy="4495800"/>
          </a:xfrm>
          <a:prstGeom prst="rect">
            <a:avLst/>
          </a:prstGeom>
          <a:noFill/>
          <a:ln w="9525">
            <a:noFill/>
            <a:miter lim="800000"/>
            <a:headEnd/>
            <a:tailEnd/>
          </a:ln>
          <a:effectLst/>
        </p:spPr>
      </p:pic>
      <p:sp>
        <p:nvSpPr>
          <p:cNvPr id="4" name="Rectangle 3"/>
          <p:cNvSpPr/>
          <p:nvPr/>
        </p:nvSpPr>
        <p:spPr>
          <a:xfrm>
            <a:off x="4648200" y="5227637"/>
            <a:ext cx="2379370" cy="338554"/>
          </a:xfrm>
          <a:prstGeom prst="rect">
            <a:avLst/>
          </a:prstGeom>
        </p:spPr>
        <p:txBody>
          <a:bodyPr wrap="none">
            <a:spAutoFit/>
          </a:bodyPr>
          <a:lstStyle/>
          <a:p>
            <a:pPr algn="ctr"/>
            <a:r>
              <a:rPr lang="en-US" sz="1600" b="1" dirty="0" smtClean="0"/>
              <a:t>Figure: Field must be field</a:t>
            </a:r>
            <a:endParaRPr lang="en-US" sz="1600" b="1"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30</a:t>
            </a:fld>
            <a:endParaRPr lang="en-US" dirty="0"/>
          </a:p>
        </p:txBody>
      </p:sp>
      <p:pic>
        <p:nvPicPr>
          <p:cNvPr id="3" name="Picture 2" descr="C:\Users\User\Downloads\Renter giving payment err.png"/>
          <p:cNvPicPr/>
          <p:nvPr/>
        </p:nvPicPr>
        <p:blipFill>
          <a:blip r:embed="rId2">
            <a:extLst>
              <a:ext uri="{28A0092B-C50C-407E-A947-70E740481C1C}">
                <a14:useLocalDpi xmlns:a14="http://schemas.microsoft.com/office/drawing/2010/main" xmlns="" val="0"/>
              </a:ext>
            </a:extLst>
          </a:blip>
          <a:srcRect/>
          <a:stretch>
            <a:fillRect/>
          </a:stretch>
        </p:blipFill>
        <p:spPr bwMode="auto">
          <a:xfrm>
            <a:off x="1143000" y="274637"/>
            <a:ext cx="9448799" cy="4724400"/>
          </a:xfrm>
          <a:prstGeom prst="rect">
            <a:avLst/>
          </a:prstGeom>
          <a:noFill/>
          <a:ln>
            <a:noFill/>
          </a:ln>
        </p:spPr>
      </p:pic>
      <p:sp>
        <p:nvSpPr>
          <p:cNvPr id="4" name="Rectangle 3"/>
          <p:cNvSpPr/>
          <p:nvPr/>
        </p:nvSpPr>
        <p:spPr>
          <a:xfrm>
            <a:off x="4267200" y="5380037"/>
            <a:ext cx="4182172" cy="307777"/>
          </a:xfrm>
          <a:prstGeom prst="rect">
            <a:avLst/>
          </a:prstGeom>
        </p:spPr>
        <p:txBody>
          <a:bodyPr wrap="none">
            <a:spAutoFit/>
          </a:bodyPr>
          <a:lstStyle/>
          <a:p>
            <a:pPr algn="ctr"/>
            <a:r>
              <a:rPr lang="en-US" sz="1400" b="1" dirty="0" smtClean="0"/>
              <a:t>Figure:   Already  given month cannot be given double</a:t>
            </a:r>
            <a:endParaRPr lang="en-US" sz="1400" b="1"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31</a:t>
            </a:fld>
            <a:endParaRPr lang="en-US" dirty="0"/>
          </a:p>
        </p:txBody>
      </p:sp>
      <p:pic>
        <p:nvPicPr>
          <p:cNvPr id="3" name="Picture 2"/>
          <p:cNvPicPr/>
          <p:nvPr/>
        </p:nvPicPr>
        <p:blipFill>
          <a:blip r:embed="rId2"/>
          <a:srcRect/>
          <a:stretch>
            <a:fillRect/>
          </a:stretch>
        </p:blipFill>
        <p:spPr bwMode="auto">
          <a:xfrm>
            <a:off x="2514600" y="960437"/>
            <a:ext cx="7848600" cy="4267200"/>
          </a:xfrm>
          <a:prstGeom prst="rect">
            <a:avLst/>
          </a:prstGeom>
          <a:noFill/>
          <a:ln w="9525">
            <a:noFill/>
            <a:miter lim="800000"/>
            <a:headEnd/>
            <a:tailEnd/>
          </a:ln>
          <a:effectLst/>
        </p:spPr>
      </p:pic>
      <p:sp>
        <p:nvSpPr>
          <p:cNvPr id="4" name="Rectangle 3"/>
          <p:cNvSpPr/>
          <p:nvPr/>
        </p:nvSpPr>
        <p:spPr>
          <a:xfrm>
            <a:off x="4419600" y="5456237"/>
            <a:ext cx="4571957" cy="307777"/>
          </a:xfrm>
          <a:prstGeom prst="rect">
            <a:avLst/>
          </a:prstGeom>
        </p:spPr>
        <p:txBody>
          <a:bodyPr wrap="none">
            <a:spAutoFit/>
          </a:bodyPr>
          <a:lstStyle/>
          <a:p>
            <a:pPr algn="ctr"/>
            <a:r>
              <a:rPr lang="en-US" sz="1400" b="1" dirty="0" smtClean="0"/>
              <a:t>Figure:  Admin cannot login if password and name is wrong</a:t>
            </a:r>
            <a:endParaRPr lang="en-US" sz="1400" b="1"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32</a:t>
            </a:fld>
            <a:endParaRPr lang="en-US" dirty="0"/>
          </a:p>
        </p:txBody>
      </p:sp>
      <p:sp>
        <p:nvSpPr>
          <p:cNvPr id="4" name="Rectangle 3"/>
          <p:cNvSpPr/>
          <p:nvPr/>
        </p:nvSpPr>
        <p:spPr>
          <a:xfrm>
            <a:off x="4160520" y="274638"/>
            <a:ext cx="1760418" cy="461665"/>
          </a:xfrm>
          <a:prstGeom prst="rect">
            <a:avLst/>
          </a:prstGeom>
        </p:spPr>
        <p:txBody>
          <a:bodyPr wrap="none">
            <a:spAutoFit/>
          </a:bodyPr>
          <a:lstStyle/>
          <a:p>
            <a:r>
              <a:rPr lang="en-US" sz="2400" b="1" dirty="0" smtClean="0">
                <a:ln w="11430">
                  <a:solidFill>
                    <a:schemeClr val="tx2">
                      <a:lumMod val="50000"/>
                    </a:schemeClr>
                  </a:solidFill>
                </a:ln>
                <a:effectLst>
                  <a:outerShdw blurRad="50800" dist="39000" dir="5460000" algn="tl">
                    <a:srgbClr val="000000">
                      <a:alpha val="38000"/>
                    </a:srgbClr>
                  </a:outerShdw>
                </a:effectLst>
              </a:rPr>
              <a:t>9.Discussion</a:t>
            </a:r>
            <a:endParaRPr lang="en-US" sz="2400" dirty="0"/>
          </a:p>
        </p:txBody>
      </p:sp>
      <p:sp>
        <p:nvSpPr>
          <p:cNvPr id="6" name="Rectangle 5"/>
          <p:cNvSpPr/>
          <p:nvPr/>
        </p:nvSpPr>
        <p:spPr>
          <a:xfrm>
            <a:off x="3566160" y="1341437"/>
            <a:ext cx="8122920" cy="2246769"/>
          </a:xfrm>
          <a:prstGeom prst="rect">
            <a:avLst/>
          </a:prstGeom>
        </p:spPr>
        <p:txBody>
          <a:bodyPr wrap="square">
            <a:spAutoFit/>
          </a:bodyPr>
          <a:lstStyle/>
          <a:p>
            <a:pPr algn="just"/>
            <a:endParaRPr lang="en-US" sz="2000" dirty="0" smtClean="0"/>
          </a:p>
          <a:p>
            <a:pPr algn="just"/>
            <a:r>
              <a:rPr lang="en-US" sz="2000" dirty="0" smtClean="0"/>
              <a:t>From the conducted test , we have noticed that the system is working quite accurately. While inserting any new user, blocking user, billing payment, renewal, providing notice, agreement, and request from user etc. necessary and significant changes are displayed in the database. Which proves that both front-end and back-end are working in perfect sink. Also, necessary testing has been done. In order to ensure proper working of the system</a:t>
            </a:r>
            <a:endParaRPr lang="en-US" sz="2000" dirty="0"/>
          </a:p>
        </p:txBody>
      </p:sp>
      <p:pic>
        <p:nvPicPr>
          <p:cNvPr id="31746" name="Picture 2" descr="Image result for Discussion picture"/>
          <p:cNvPicPr>
            <a:picLocks noChangeAspect="1" noChangeArrowheads="1"/>
          </p:cNvPicPr>
          <p:nvPr/>
        </p:nvPicPr>
        <p:blipFill>
          <a:blip r:embed="rId2" cstate="print"/>
          <a:srcRect/>
          <a:stretch>
            <a:fillRect/>
          </a:stretch>
        </p:blipFill>
        <p:spPr bwMode="auto">
          <a:xfrm>
            <a:off x="198121" y="1722437"/>
            <a:ext cx="3179669" cy="2209800"/>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33</a:t>
            </a:fld>
            <a:endParaRPr lang="en-US" dirty="0"/>
          </a:p>
        </p:txBody>
      </p:sp>
      <p:sp>
        <p:nvSpPr>
          <p:cNvPr id="3" name="Rectangle 2"/>
          <p:cNvSpPr/>
          <p:nvPr/>
        </p:nvSpPr>
        <p:spPr>
          <a:xfrm>
            <a:off x="4267200" y="350837"/>
            <a:ext cx="1439240" cy="461665"/>
          </a:xfrm>
          <a:prstGeom prst="rect">
            <a:avLst/>
          </a:prstGeom>
        </p:spPr>
        <p:txBody>
          <a:bodyPr wrap="none">
            <a:spAutoFit/>
          </a:bodyPr>
          <a:lstStyle/>
          <a:p>
            <a:r>
              <a:rPr lang="en-US" sz="2400" b="1" dirty="0" smtClean="0">
                <a:ln w="11430">
                  <a:solidFill>
                    <a:schemeClr val="tx2">
                      <a:lumMod val="50000"/>
                    </a:schemeClr>
                  </a:solidFill>
                </a:ln>
                <a:effectLst>
                  <a:outerShdw blurRad="50800" dist="39000" dir="5460000" algn="tl">
                    <a:srgbClr val="000000">
                      <a:alpha val="38000"/>
                    </a:srgbClr>
                  </a:outerShdw>
                </a:effectLst>
              </a:rPr>
              <a:t>Project UI</a:t>
            </a:r>
            <a:endParaRPr lang="en-US" sz="2400" dirty="0"/>
          </a:p>
        </p:txBody>
      </p:sp>
      <p:pic>
        <p:nvPicPr>
          <p:cNvPr id="4" name="Picture 3"/>
          <p:cNvPicPr/>
          <p:nvPr/>
        </p:nvPicPr>
        <p:blipFill>
          <a:blip r:embed="rId2"/>
          <a:srcRect/>
          <a:stretch>
            <a:fillRect/>
          </a:stretch>
        </p:blipFill>
        <p:spPr bwMode="auto">
          <a:xfrm>
            <a:off x="1752601" y="1265237"/>
            <a:ext cx="8839200" cy="3733800"/>
          </a:xfrm>
          <a:prstGeom prst="rect">
            <a:avLst/>
          </a:prstGeom>
          <a:noFill/>
          <a:ln w="9525">
            <a:noFill/>
            <a:miter lim="800000"/>
            <a:headEnd/>
            <a:tailEnd/>
          </a:ln>
          <a:effectLst/>
        </p:spPr>
      </p:pic>
      <p:sp>
        <p:nvSpPr>
          <p:cNvPr id="6" name="Rectangle 5"/>
          <p:cNvSpPr/>
          <p:nvPr/>
        </p:nvSpPr>
        <p:spPr>
          <a:xfrm>
            <a:off x="4876800" y="5303837"/>
            <a:ext cx="2030620" cy="307777"/>
          </a:xfrm>
          <a:prstGeom prst="rect">
            <a:avLst/>
          </a:prstGeom>
        </p:spPr>
        <p:txBody>
          <a:bodyPr wrap="none">
            <a:spAutoFit/>
          </a:bodyPr>
          <a:lstStyle/>
          <a:p>
            <a:pPr algn="ctr"/>
            <a:r>
              <a:rPr lang="en-US" sz="1400" b="1" dirty="0" smtClean="0"/>
              <a:t>Figure: Admin login page</a:t>
            </a:r>
            <a:endParaRPr lang="en-US" sz="1400" b="1" dirty="0"/>
          </a:p>
        </p:txBody>
      </p:sp>
      <p:sp>
        <p:nvSpPr>
          <p:cNvPr id="7" name="Rectangle 6"/>
          <p:cNvSpPr/>
          <p:nvPr/>
        </p:nvSpPr>
        <p:spPr>
          <a:xfrm>
            <a:off x="457200" y="503237"/>
            <a:ext cx="1512273" cy="369332"/>
          </a:xfrm>
          <a:prstGeom prst="rect">
            <a:avLst/>
          </a:prstGeom>
        </p:spPr>
        <p:txBody>
          <a:bodyPr wrap="none">
            <a:spAutoFit/>
          </a:bodyPr>
          <a:lstStyle/>
          <a:p>
            <a:r>
              <a:rPr lang="en-US" sz="1800" b="1" dirty="0" smtClean="0">
                <a:ln w="11430">
                  <a:solidFill>
                    <a:schemeClr val="tx2">
                      <a:lumMod val="50000"/>
                    </a:schemeClr>
                  </a:solidFill>
                </a:ln>
                <a:effectLst>
                  <a:outerShdw blurRad="50800" dist="39000" dir="5460000" algn="tl">
                    <a:srgbClr val="000000">
                      <a:alpha val="38000"/>
                    </a:srgbClr>
                  </a:outerShdw>
                </a:effectLst>
              </a:rPr>
              <a:t>Admin Panel :</a:t>
            </a:r>
            <a:endParaRPr lang="en-US" sz="18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34</a:t>
            </a:fld>
            <a:endParaRPr lang="en-US" dirty="0"/>
          </a:p>
        </p:txBody>
      </p:sp>
      <p:sp>
        <p:nvSpPr>
          <p:cNvPr id="4" name="Rectangle 3"/>
          <p:cNvSpPr/>
          <p:nvPr/>
        </p:nvSpPr>
        <p:spPr>
          <a:xfrm>
            <a:off x="5486400" y="5151437"/>
            <a:ext cx="2350323" cy="338554"/>
          </a:xfrm>
          <a:prstGeom prst="rect">
            <a:avLst/>
          </a:prstGeom>
        </p:spPr>
        <p:txBody>
          <a:bodyPr wrap="none">
            <a:spAutoFit/>
          </a:bodyPr>
          <a:lstStyle/>
          <a:p>
            <a:pPr algn="ctr"/>
            <a:r>
              <a:rPr lang="en-US" sz="1600" b="1" dirty="0" smtClean="0"/>
              <a:t>Figure: Admin Dashboard</a:t>
            </a:r>
            <a:endParaRPr lang="en-US" sz="1600" b="1" dirty="0"/>
          </a:p>
        </p:txBody>
      </p:sp>
      <p:pic>
        <p:nvPicPr>
          <p:cNvPr id="1026" name="Picture 2"/>
          <p:cNvPicPr>
            <a:picLocks noChangeAspect="1" noChangeArrowheads="1"/>
          </p:cNvPicPr>
          <p:nvPr/>
        </p:nvPicPr>
        <p:blipFill>
          <a:blip r:embed="rId2"/>
          <a:srcRect/>
          <a:stretch>
            <a:fillRect/>
          </a:stretch>
        </p:blipFill>
        <p:spPr bwMode="auto">
          <a:xfrm>
            <a:off x="1676400" y="960437"/>
            <a:ext cx="8686800" cy="384235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35</a:t>
            </a:fld>
            <a:endParaRPr lang="en-US" dirty="0"/>
          </a:p>
        </p:txBody>
      </p:sp>
      <p:sp>
        <p:nvSpPr>
          <p:cNvPr id="4" name="Rectangle 3"/>
          <p:cNvSpPr/>
          <p:nvPr/>
        </p:nvSpPr>
        <p:spPr>
          <a:xfrm>
            <a:off x="5181600" y="5151437"/>
            <a:ext cx="1595501" cy="338554"/>
          </a:xfrm>
          <a:prstGeom prst="rect">
            <a:avLst/>
          </a:prstGeom>
        </p:spPr>
        <p:txBody>
          <a:bodyPr wrap="none">
            <a:spAutoFit/>
          </a:bodyPr>
          <a:lstStyle/>
          <a:p>
            <a:pPr algn="ctr"/>
            <a:r>
              <a:rPr lang="en-US" sz="1600" b="1" dirty="0" smtClean="0"/>
              <a:t>Figure : User list </a:t>
            </a:r>
            <a:endParaRPr lang="en-US" sz="1600" b="1" dirty="0"/>
          </a:p>
        </p:txBody>
      </p:sp>
      <p:pic>
        <p:nvPicPr>
          <p:cNvPr id="2051" name="Picture 3"/>
          <p:cNvPicPr>
            <a:picLocks noChangeAspect="1" noChangeArrowheads="1"/>
          </p:cNvPicPr>
          <p:nvPr/>
        </p:nvPicPr>
        <p:blipFill>
          <a:blip r:embed="rId2"/>
          <a:srcRect/>
          <a:stretch>
            <a:fillRect/>
          </a:stretch>
        </p:blipFill>
        <p:spPr bwMode="auto">
          <a:xfrm>
            <a:off x="914400" y="579438"/>
            <a:ext cx="8839200" cy="403759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36</a:t>
            </a:fld>
            <a:endParaRPr lang="en-US" dirty="0"/>
          </a:p>
        </p:txBody>
      </p:sp>
      <p:sp>
        <p:nvSpPr>
          <p:cNvPr id="4" name="Rectangle 3"/>
          <p:cNvSpPr/>
          <p:nvPr/>
        </p:nvSpPr>
        <p:spPr>
          <a:xfrm>
            <a:off x="4572000" y="4846637"/>
            <a:ext cx="1483228" cy="307777"/>
          </a:xfrm>
          <a:prstGeom prst="rect">
            <a:avLst/>
          </a:prstGeom>
        </p:spPr>
        <p:txBody>
          <a:bodyPr wrap="none">
            <a:spAutoFit/>
          </a:bodyPr>
          <a:lstStyle/>
          <a:p>
            <a:pPr algn="ctr"/>
            <a:r>
              <a:rPr lang="en-US" sz="1400" b="1" dirty="0" smtClean="0"/>
              <a:t>Figure :  Zone list </a:t>
            </a:r>
            <a:endParaRPr lang="en-US" sz="1400" b="1" dirty="0"/>
          </a:p>
        </p:txBody>
      </p:sp>
      <p:pic>
        <p:nvPicPr>
          <p:cNvPr id="3075" name="Picture 3"/>
          <p:cNvPicPr>
            <a:picLocks noChangeAspect="1" noChangeArrowheads="1"/>
          </p:cNvPicPr>
          <p:nvPr/>
        </p:nvPicPr>
        <p:blipFill>
          <a:blip r:embed="rId2"/>
          <a:srcRect/>
          <a:stretch>
            <a:fillRect/>
          </a:stretch>
        </p:blipFill>
        <p:spPr bwMode="auto">
          <a:xfrm>
            <a:off x="1295400" y="655637"/>
            <a:ext cx="8991599" cy="38892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37</a:t>
            </a:fld>
            <a:endParaRPr lang="en-US" dirty="0"/>
          </a:p>
        </p:txBody>
      </p:sp>
      <p:pic>
        <p:nvPicPr>
          <p:cNvPr id="3" name="Picture 2"/>
          <p:cNvPicPr/>
          <p:nvPr/>
        </p:nvPicPr>
        <p:blipFill>
          <a:blip r:embed="rId2"/>
          <a:srcRect/>
          <a:stretch>
            <a:fillRect/>
          </a:stretch>
        </p:blipFill>
        <p:spPr bwMode="auto">
          <a:xfrm>
            <a:off x="381000" y="1036637"/>
            <a:ext cx="5334000" cy="4191000"/>
          </a:xfrm>
          <a:prstGeom prst="rect">
            <a:avLst/>
          </a:prstGeom>
          <a:noFill/>
          <a:ln w="9525">
            <a:noFill/>
            <a:miter lim="800000"/>
            <a:headEnd/>
            <a:tailEnd/>
          </a:ln>
          <a:effectLst/>
        </p:spPr>
      </p:pic>
      <p:pic>
        <p:nvPicPr>
          <p:cNvPr id="4" name="Picture 3" descr="Owner regi"/>
          <p:cNvPicPr/>
          <p:nvPr/>
        </p:nvPicPr>
        <p:blipFill>
          <a:blip r:embed="rId3">
            <a:extLst>
              <a:ext uri="{28A0092B-C50C-407E-A947-70E740481C1C}">
                <a14:useLocalDpi xmlns:a14="http://schemas.microsoft.com/office/drawing/2010/main" xmlns="" val="0"/>
              </a:ext>
            </a:extLst>
          </a:blip>
          <a:srcRect/>
          <a:stretch>
            <a:fillRect/>
          </a:stretch>
        </p:blipFill>
        <p:spPr bwMode="auto">
          <a:xfrm>
            <a:off x="6019800" y="1112837"/>
            <a:ext cx="4648200" cy="4038600"/>
          </a:xfrm>
          <a:prstGeom prst="rect">
            <a:avLst/>
          </a:prstGeom>
          <a:noFill/>
          <a:ln>
            <a:noFill/>
          </a:ln>
        </p:spPr>
      </p:pic>
      <p:sp>
        <p:nvSpPr>
          <p:cNvPr id="5" name="Rectangle 4"/>
          <p:cNvSpPr/>
          <p:nvPr/>
        </p:nvSpPr>
        <p:spPr>
          <a:xfrm>
            <a:off x="228600" y="274637"/>
            <a:ext cx="1381276" cy="338554"/>
          </a:xfrm>
          <a:prstGeom prst="rect">
            <a:avLst/>
          </a:prstGeom>
        </p:spPr>
        <p:txBody>
          <a:bodyPr wrap="none">
            <a:spAutoFit/>
          </a:bodyPr>
          <a:lstStyle/>
          <a:p>
            <a:r>
              <a:rPr lang="en-US" sz="1600" b="1" dirty="0" smtClean="0">
                <a:ln w="11430">
                  <a:solidFill>
                    <a:schemeClr val="tx2">
                      <a:lumMod val="50000"/>
                    </a:schemeClr>
                  </a:solidFill>
                </a:ln>
                <a:effectLst>
                  <a:outerShdw blurRad="50800" dist="39000" dir="5460000" algn="tl">
                    <a:srgbClr val="000000">
                      <a:alpha val="38000"/>
                    </a:srgbClr>
                  </a:outerShdw>
                </a:effectLst>
              </a:rPr>
              <a:t>Owner Panel :</a:t>
            </a:r>
            <a:endParaRPr lang="en-US" sz="1600" dirty="0"/>
          </a:p>
        </p:txBody>
      </p:sp>
      <p:sp>
        <p:nvSpPr>
          <p:cNvPr id="6" name="Rectangle 5"/>
          <p:cNvSpPr/>
          <p:nvPr/>
        </p:nvSpPr>
        <p:spPr>
          <a:xfrm>
            <a:off x="4800600" y="5456237"/>
            <a:ext cx="2987806" cy="338554"/>
          </a:xfrm>
          <a:prstGeom prst="rect">
            <a:avLst/>
          </a:prstGeom>
        </p:spPr>
        <p:txBody>
          <a:bodyPr wrap="none">
            <a:spAutoFit/>
          </a:bodyPr>
          <a:lstStyle/>
          <a:p>
            <a:pPr algn="ctr"/>
            <a:r>
              <a:rPr lang="en-US" sz="1600" b="1" dirty="0" smtClean="0"/>
              <a:t>Figure : Owner registration panel</a:t>
            </a:r>
            <a:endParaRPr lang="en-US" sz="1600" b="1"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38</a:t>
            </a:fld>
            <a:endParaRPr lang="en-US" dirty="0"/>
          </a:p>
        </p:txBody>
      </p:sp>
      <p:pic>
        <p:nvPicPr>
          <p:cNvPr id="3" name="Picture 2"/>
          <p:cNvPicPr/>
          <p:nvPr/>
        </p:nvPicPr>
        <p:blipFill>
          <a:blip r:embed="rId2"/>
          <a:srcRect/>
          <a:stretch>
            <a:fillRect/>
          </a:stretch>
        </p:blipFill>
        <p:spPr bwMode="auto">
          <a:xfrm>
            <a:off x="1295400" y="503237"/>
            <a:ext cx="9220200" cy="4351020"/>
          </a:xfrm>
          <a:prstGeom prst="rect">
            <a:avLst/>
          </a:prstGeom>
          <a:noFill/>
          <a:ln w="9525">
            <a:noFill/>
            <a:miter lim="800000"/>
            <a:headEnd/>
            <a:tailEnd/>
          </a:ln>
          <a:effectLst/>
        </p:spPr>
      </p:pic>
      <p:sp>
        <p:nvSpPr>
          <p:cNvPr id="4" name="Rectangle 3"/>
          <p:cNvSpPr/>
          <p:nvPr/>
        </p:nvSpPr>
        <p:spPr>
          <a:xfrm>
            <a:off x="4800600" y="5227637"/>
            <a:ext cx="2424959" cy="338554"/>
          </a:xfrm>
          <a:prstGeom prst="rect">
            <a:avLst/>
          </a:prstGeom>
        </p:spPr>
        <p:txBody>
          <a:bodyPr wrap="none">
            <a:spAutoFit/>
          </a:bodyPr>
          <a:lstStyle/>
          <a:p>
            <a:pPr algn="ctr"/>
            <a:r>
              <a:rPr lang="en-US" sz="1600" b="1" dirty="0" smtClean="0"/>
              <a:t>Figure : Owner login panel</a:t>
            </a:r>
            <a:endParaRPr lang="en-US" sz="1600" b="1"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39</a:t>
            </a:fld>
            <a:endParaRPr lang="en-US" dirty="0"/>
          </a:p>
        </p:txBody>
      </p:sp>
      <p:pic>
        <p:nvPicPr>
          <p:cNvPr id="3" name="Picture 2"/>
          <p:cNvPicPr/>
          <p:nvPr/>
        </p:nvPicPr>
        <p:blipFill>
          <a:blip r:embed="rId2"/>
          <a:srcRect/>
          <a:stretch>
            <a:fillRect/>
          </a:stretch>
        </p:blipFill>
        <p:spPr bwMode="auto">
          <a:xfrm>
            <a:off x="2286000" y="731837"/>
            <a:ext cx="7239000" cy="4267200"/>
          </a:xfrm>
          <a:prstGeom prst="rect">
            <a:avLst/>
          </a:prstGeom>
          <a:noFill/>
          <a:ln w="9525">
            <a:noFill/>
            <a:miter lim="800000"/>
            <a:headEnd/>
            <a:tailEnd/>
          </a:ln>
          <a:effectLst/>
        </p:spPr>
      </p:pic>
      <p:sp>
        <p:nvSpPr>
          <p:cNvPr id="4" name="Rectangle 3"/>
          <p:cNvSpPr/>
          <p:nvPr/>
        </p:nvSpPr>
        <p:spPr>
          <a:xfrm>
            <a:off x="4495800" y="5303837"/>
            <a:ext cx="1730858" cy="307777"/>
          </a:xfrm>
          <a:prstGeom prst="rect">
            <a:avLst/>
          </a:prstGeom>
        </p:spPr>
        <p:txBody>
          <a:bodyPr wrap="none">
            <a:spAutoFit/>
          </a:bodyPr>
          <a:lstStyle/>
          <a:p>
            <a:pPr algn="ctr"/>
            <a:r>
              <a:rPr lang="en-US" sz="1400" b="1" dirty="0" smtClean="0"/>
              <a:t>Figure : Owner Panel</a:t>
            </a:r>
            <a:endParaRPr lang="en-US" sz="1400" b="1"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40</a:t>
            </a:fld>
            <a:endParaRPr lang="en-US" dirty="0"/>
          </a:p>
        </p:txBody>
      </p:sp>
      <p:pic>
        <p:nvPicPr>
          <p:cNvPr id="3" name="Picture 2"/>
          <p:cNvPicPr/>
          <p:nvPr/>
        </p:nvPicPr>
        <p:blipFill>
          <a:blip r:embed="rId2"/>
          <a:srcRect/>
          <a:stretch>
            <a:fillRect/>
          </a:stretch>
        </p:blipFill>
        <p:spPr bwMode="auto">
          <a:xfrm>
            <a:off x="1905000" y="884237"/>
            <a:ext cx="7391400" cy="3752850"/>
          </a:xfrm>
          <a:prstGeom prst="rect">
            <a:avLst/>
          </a:prstGeom>
          <a:noFill/>
          <a:ln w="9525">
            <a:noFill/>
            <a:miter lim="800000"/>
            <a:headEnd/>
            <a:tailEnd/>
          </a:ln>
          <a:effectLst/>
        </p:spPr>
      </p:pic>
      <p:sp>
        <p:nvSpPr>
          <p:cNvPr id="4" name="Rectangle 3"/>
          <p:cNvSpPr/>
          <p:nvPr/>
        </p:nvSpPr>
        <p:spPr>
          <a:xfrm>
            <a:off x="4267200" y="5075237"/>
            <a:ext cx="2301849" cy="307777"/>
          </a:xfrm>
          <a:prstGeom prst="rect">
            <a:avLst/>
          </a:prstGeom>
        </p:spPr>
        <p:txBody>
          <a:bodyPr wrap="none">
            <a:spAutoFit/>
          </a:bodyPr>
          <a:lstStyle/>
          <a:p>
            <a:pPr algn="ctr"/>
            <a:r>
              <a:rPr lang="en-US" sz="1400" b="1" dirty="0" smtClean="0"/>
              <a:t>Figure : Owner Notice panel </a:t>
            </a:r>
            <a:endParaRPr lang="en-US" sz="1400" b="1"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41</a:t>
            </a:fld>
            <a:endParaRPr lang="en-US" dirty="0"/>
          </a:p>
        </p:txBody>
      </p:sp>
      <p:sp>
        <p:nvSpPr>
          <p:cNvPr id="4" name="Rectangle 3"/>
          <p:cNvSpPr/>
          <p:nvPr/>
        </p:nvSpPr>
        <p:spPr>
          <a:xfrm>
            <a:off x="4800600" y="5075237"/>
            <a:ext cx="1715150" cy="338554"/>
          </a:xfrm>
          <a:prstGeom prst="rect">
            <a:avLst/>
          </a:prstGeom>
        </p:spPr>
        <p:txBody>
          <a:bodyPr wrap="none">
            <a:spAutoFit/>
          </a:bodyPr>
          <a:lstStyle/>
          <a:p>
            <a:pPr algn="ctr"/>
            <a:r>
              <a:rPr lang="en-US" sz="1600" b="1" dirty="0" smtClean="0"/>
              <a:t>Figure :Search bar</a:t>
            </a:r>
            <a:endParaRPr lang="en-US" sz="1600" b="1" dirty="0"/>
          </a:p>
        </p:txBody>
      </p:sp>
      <p:pic>
        <p:nvPicPr>
          <p:cNvPr id="4098" name="Picture 2"/>
          <p:cNvPicPr>
            <a:picLocks noChangeAspect="1" noChangeArrowheads="1"/>
          </p:cNvPicPr>
          <p:nvPr/>
        </p:nvPicPr>
        <p:blipFill>
          <a:blip r:embed="rId2"/>
          <a:srcRect/>
          <a:stretch>
            <a:fillRect/>
          </a:stretch>
        </p:blipFill>
        <p:spPr bwMode="auto">
          <a:xfrm>
            <a:off x="1905000" y="960437"/>
            <a:ext cx="7823117" cy="37798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42</a:t>
            </a:fld>
            <a:endParaRPr lang="en-US" dirty="0"/>
          </a:p>
        </p:txBody>
      </p:sp>
      <p:sp>
        <p:nvSpPr>
          <p:cNvPr id="4" name="Rectangle 3"/>
          <p:cNvSpPr/>
          <p:nvPr/>
        </p:nvSpPr>
        <p:spPr>
          <a:xfrm>
            <a:off x="5334000" y="5227637"/>
            <a:ext cx="1737848" cy="307777"/>
          </a:xfrm>
          <a:prstGeom prst="rect">
            <a:avLst/>
          </a:prstGeom>
        </p:spPr>
        <p:txBody>
          <a:bodyPr wrap="none">
            <a:spAutoFit/>
          </a:bodyPr>
          <a:lstStyle/>
          <a:p>
            <a:pPr algn="ctr"/>
            <a:r>
              <a:rPr lang="en-US" sz="1400" b="1" dirty="0" smtClean="0"/>
              <a:t>Figure : Search result</a:t>
            </a:r>
            <a:endParaRPr lang="en-US" sz="1400" b="1" dirty="0"/>
          </a:p>
        </p:txBody>
      </p:sp>
      <p:pic>
        <p:nvPicPr>
          <p:cNvPr id="5122" name="Picture 2"/>
          <p:cNvPicPr>
            <a:picLocks noChangeAspect="1" noChangeArrowheads="1"/>
          </p:cNvPicPr>
          <p:nvPr/>
        </p:nvPicPr>
        <p:blipFill>
          <a:blip r:embed="rId2"/>
          <a:srcRect/>
          <a:stretch>
            <a:fillRect/>
          </a:stretch>
        </p:blipFill>
        <p:spPr bwMode="auto">
          <a:xfrm>
            <a:off x="1905000" y="960437"/>
            <a:ext cx="8006862" cy="3886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43</a:t>
            </a:fld>
            <a:endParaRPr lang="en-US" dirty="0"/>
          </a:p>
        </p:txBody>
      </p:sp>
      <p:pic>
        <p:nvPicPr>
          <p:cNvPr id="3" name="Picture 2"/>
          <p:cNvPicPr/>
          <p:nvPr/>
        </p:nvPicPr>
        <p:blipFill>
          <a:blip r:embed="rId2"/>
          <a:srcRect/>
          <a:stretch>
            <a:fillRect/>
          </a:stretch>
        </p:blipFill>
        <p:spPr bwMode="auto">
          <a:xfrm>
            <a:off x="304800" y="427037"/>
            <a:ext cx="5732145" cy="3886200"/>
          </a:xfrm>
          <a:prstGeom prst="rect">
            <a:avLst/>
          </a:prstGeom>
          <a:noFill/>
          <a:ln w="9525">
            <a:noFill/>
            <a:miter lim="800000"/>
            <a:headEnd/>
            <a:tailEnd/>
          </a:ln>
          <a:effectLst/>
        </p:spPr>
      </p:pic>
      <p:pic>
        <p:nvPicPr>
          <p:cNvPr id="4" name="Picture 3" descr="Renter regi"/>
          <p:cNvPicPr/>
          <p:nvPr/>
        </p:nvPicPr>
        <p:blipFill>
          <a:blip r:embed="rId3">
            <a:extLst>
              <a:ext uri="{28A0092B-C50C-407E-A947-70E740481C1C}">
                <a14:useLocalDpi xmlns:a14="http://schemas.microsoft.com/office/drawing/2010/main" xmlns="" val="0"/>
              </a:ext>
            </a:extLst>
          </a:blip>
          <a:srcRect/>
          <a:stretch>
            <a:fillRect/>
          </a:stretch>
        </p:blipFill>
        <p:spPr bwMode="auto">
          <a:xfrm>
            <a:off x="6248400" y="427037"/>
            <a:ext cx="5257800" cy="3886200"/>
          </a:xfrm>
          <a:prstGeom prst="rect">
            <a:avLst/>
          </a:prstGeom>
          <a:noFill/>
          <a:ln>
            <a:noFill/>
          </a:ln>
        </p:spPr>
      </p:pic>
      <p:sp>
        <p:nvSpPr>
          <p:cNvPr id="5" name="Rectangle 4"/>
          <p:cNvSpPr/>
          <p:nvPr/>
        </p:nvSpPr>
        <p:spPr>
          <a:xfrm>
            <a:off x="4648200" y="4846637"/>
            <a:ext cx="2627194" cy="307777"/>
          </a:xfrm>
          <a:prstGeom prst="rect">
            <a:avLst/>
          </a:prstGeom>
        </p:spPr>
        <p:txBody>
          <a:bodyPr wrap="none">
            <a:spAutoFit/>
          </a:bodyPr>
          <a:lstStyle/>
          <a:p>
            <a:pPr algn="ctr"/>
            <a:r>
              <a:rPr lang="en-US" sz="1400" b="1" dirty="0" smtClean="0"/>
              <a:t>Figure : Renter registration panel</a:t>
            </a:r>
            <a:endParaRPr lang="en-US" sz="1400" b="1"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44</a:t>
            </a:fld>
            <a:endParaRPr lang="en-US" dirty="0"/>
          </a:p>
        </p:txBody>
      </p:sp>
      <p:pic>
        <p:nvPicPr>
          <p:cNvPr id="3" name="Picture 2"/>
          <p:cNvPicPr/>
          <p:nvPr/>
        </p:nvPicPr>
        <p:blipFill>
          <a:blip r:embed="rId2"/>
          <a:srcRect/>
          <a:stretch>
            <a:fillRect/>
          </a:stretch>
        </p:blipFill>
        <p:spPr bwMode="auto">
          <a:xfrm>
            <a:off x="1752600" y="503237"/>
            <a:ext cx="8229600" cy="4495800"/>
          </a:xfrm>
          <a:prstGeom prst="rect">
            <a:avLst/>
          </a:prstGeom>
          <a:noFill/>
          <a:ln w="9525">
            <a:noFill/>
            <a:miter lim="800000"/>
            <a:headEnd/>
            <a:tailEnd/>
          </a:ln>
          <a:effectLst/>
        </p:spPr>
      </p:pic>
      <p:sp>
        <p:nvSpPr>
          <p:cNvPr id="4" name="Rectangle 3"/>
          <p:cNvSpPr/>
          <p:nvPr/>
        </p:nvSpPr>
        <p:spPr>
          <a:xfrm>
            <a:off x="4572000" y="5303837"/>
            <a:ext cx="2133469" cy="307777"/>
          </a:xfrm>
          <a:prstGeom prst="rect">
            <a:avLst/>
          </a:prstGeom>
        </p:spPr>
        <p:txBody>
          <a:bodyPr wrap="none">
            <a:spAutoFit/>
          </a:bodyPr>
          <a:lstStyle/>
          <a:p>
            <a:pPr algn="ctr"/>
            <a:r>
              <a:rPr lang="en-US" sz="1400" b="1" dirty="0" smtClean="0"/>
              <a:t>Figure : Renter login panel</a:t>
            </a:r>
            <a:endParaRPr lang="en-US" sz="1400" b="1"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45</a:t>
            </a:fld>
            <a:endParaRPr lang="en-US" dirty="0"/>
          </a:p>
        </p:txBody>
      </p:sp>
      <p:pic>
        <p:nvPicPr>
          <p:cNvPr id="3" name="Picture 2"/>
          <p:cNvPicPr/>
          <p:nvPr/>
        </p:nvPicPr>
        <p:blipFill>
          <a:blip r:embed="rId2"/>
          <a:srcRect/>
          <a:stretch>
            <a:fillRect/>
          </a:stretch>
        </p:blipFill>
        <p:spPr bwMode="auto">
          <a:xfrm>
            <a:off x="1447800" y="503237"/>
            <a:ext cx="8686800" cy="4221480"/>
          </a:xfrm>
          <a:prstGeom prst="rect">
            <a:avLst/>
          </a:prstGeom>
          <a:noFill/>
          <a:ln w="9525">
            <a:noFill/>
            <a:miter lim="800000"/>
            <a:headEnd/>
            <a:tailEnd/>
          </a:ln>
          <a:effectLst/>
        </p:spPr>
      </p:pic>
      <p:sp>
        <p:nvSpPr>
          <p:cNvPr id="4" name="Rectangle 3"/>
          <p:cNvSpPr/>
          <p:nvPr/>
        </p:nvSpPr>
        <p:spPr>
          <a:xfrm>
            <a:off x="4267200" y="5151437"/>
            <a:ext cx="1949444" cy="338554"/>
          </a:xfrm>
          <a:prstGeom prst="rect">
            <a:avLst/>
          </a:prstGeom>
        </p:spPr>
        <p:txBody>
          <a:bodyPr wrap="none">
            <a:spAutoFit/>
          </a:bodyPr>
          <a:lstStyle/>
          <a:p>
            <a:pPr algn="ctr"/>
            <a:r>
              <a:rPr lang="en-US" sz="1600" b="1" dirty="0" smtClean="0"/>
              <a:t>Figure : Renter panel</a:t>
            </a:r>
            <a:endParaRPr lang="en-US" sz="1600" b="1"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46</a:t>
            </a:fld>
            <a:endParaRPr lang="en-US" dirty="0"/>
          </a:p>
        </p:txBody>
      </p:sp>
      <p:pic>
        <p:nvPicPr>
          <p:cNvPr id="3" name="Picture 2" descr="144245116_456279768856392_3460096800089240766_n"/>
          <p:cNvPicPr/>
          <p:nvPr/>
        </p:nvPicPr>
        <p:blipFill>
          <a:blip r:embed="rId2">
            <a:extLst>
              <a:ext uri="{28A0092B-C50C-407E-A947-70E740481C1C}">
                <a14:useLocalDpi xmlns:a14="http://schemas.microsoft.com/office/drawing/2010/main" xmlns="" val="0"/>
              </a:ext>
            </a:extLst>
          </a:blip>
          <a:srcRect/>
          <a:stretch>
            <a:fillRect/>
          </a:stretch>
        </p:blipFill>
        <p:spPr bwMode="auto">
          <a:xfrm>
            <a:off x="1447800" y="503237"/>
            <a:ext cx="7136130" cy="4171950"/>
          </a:xfrm>
          <a:prstGeom prst="rect">
            <a:avLst/>
          </a:prstGeom>
          <a:noFill/>
          <a:ln>
            <a:noFill/>
          </a:ln>
        </p:spPr>
      </p:pic>
      <p:sp>
        <p:nvSpPr>
          <p:cNvPr id="4" name="Rectangle 3"/>
          <p:cNvSpPr/>
          <p:nvPr/>
        </p:nvSpPr>
        <p:spPr>
          <a:xfrm>
            <a:off x="3962400" y="5151437"/>
            <a:ext cx="2597058" cy="338554"/>
          </a:xfrm>
          <a:prstGeom prst="rect">
            <a:avLst/>
          </a:prstGeom>
        </p:spPr>
        <p:txBody>
          <a:bodyPr wrap="none">
            <a:spAutoFit/>
          </a:bodyPr>
          <a:lstStyle/>
          <a:p>
            <a:pPr algn="ctr"/>
            <a:r>
              <a:rPr lang="en-US" sz="1600" b="1" dirty="0" smtClean="0"/>
              <a:t>Figure : Renter Notice  panel</a:t>
            </a:r>
            <a:endParaRPr lang="en-US" sz="1600" b="1"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47</a:t>
            </a:fld>
            <a:endParaRPr lang="en-US" dirty="0"/>
          </a:p>
        </p:txBody>
      </p:sp>
      <p:sp>
        <p:nvSpPr>
          <p:cNvPr id="3" name="Rectangle 2"/>
          <p:cNvSpPr/>
          <p:nvPr/>
        </p:nvSpPr>
        <p:spPr>
          <a:xfrm>
            <a:off x="4259581" y="198438"/>
            <a:ext cx="1963551" cy="461665"/>
          </a:xfrm>
          <a:prstGeom prst="rect">
            <a:avLst/>
          </a:prstGeom>
        </p:spPr>
        <p:txBody>
          <a:bodyPr wrap="none">
            <a:spAutoFit/>
          </a:bodyPr>
          <a:lstStyle/>
          <a:p>
            <a:r>
              <a:rPr lang="en-US" sz="2400" b="1" dirty="0" smtClean="0">
                <a:ln w="11430">
                  <a:solidFill>
                    <a:schemeClr val="tx2">
                      <a:lumMod val="50000"/>
                    </a:schemeClr>
                  </a:solidFill>
                </a:ln>
                <a:effectLst>
                  <a:outerShdw blurRad="50800" dist="39000" dir="5460000" algn="tl">
                    <a:srgbClr val="000000">
                      <a:alpha val="38000"/>
                    </a:srgbClr>
                  </a:outerShdw>
                </a:effectLst>
              </a:rPr>
              <a:t>10.Conclusion</a:t>
            </a:r>
            <a:endParaRPr lang="en-US" sz="2400" dirty="0"/>
          </a:p>
        </p:txBody>
      </p:sp>
      <p:sp>
        <p:nvSpPr>
          <p:cNvPr id="4" name="Rectangle 3"/>
          <p:cNvSpPr/>
          <p:nvPr/>
        </p:nvSpPr>
        <p:spPr>
          <a:xfrm>
            <a:off x="198120" y="1125012"/>
            <a:ext cx="11391900" cy="2185214"/>
          </a:xfrm>
          <a:prstGeom prst="rect">
            <a:avLst/>
          </a:prstGeom>
        </p:spPr>
        <p:txBody>
          <a:bodyPr wrap="square">
            <a:spAutoFit/>
          </a:bodyPr>
          <a:lstStyle/>
          <a:p>
            <a:pPr algn="just"/>
            <a:r>
              <a:rPr lang="en-US" sz="1800" b="1" dirty="0" smtClean="0">
                <a:ln w="11430">
                  <a:solidFill>
                    <a:schemeClr val="tx2">
                      <a:lumMod val="50000"/>
                    </a:schemeClr>
                  </a:solidFill>
                </a:ln>
                <a:effectLst>
                  <a:outerShdw blurRad="50800" dist="39000" dir="5460000" algn="tl">
                    <a:srgbClr val="000000">
                      <a:alpha val="38000"/>
                    </a:srgbClr>
                  </a:outerShdw>
                </a:effectLst>
              </a:rPr>
              <a:t>Contribution:</a:t>
            </a:r>
          </a:p>
          <a:p>
            <a:pPr algn="just"/>
            <a:r>
              <a:rPr lang="en-US" sz="1800" dirty="0" smtClean="0"/>
              <a:t/>
            </a:r>
            <a:br>
              <a:rPr lang="en-US" sz="1800" dirty="0" smtClean="0"/>
            </a:br>
            <a:r>
              <a:rPr lang="en-US" sz="2000" dirty="0" smtClean="0"/>
              <a:t>The major contributions in the project are: </a:t>
            </a:r>
          </a:p>
          <a:p>
            <a:pPr algn="just"/>
            <a:r>
              <a:rPr lang="en-US" sz="2000" dirty="0" smtClean="0"/>
              <a:t>Firstly, we have made necessary effort to make the rental process more convenient. In this regard sending notifications regarding payment of rent and renewal of agreement are the major edition.</a:t>
            </a:r>
          </a:p>
          <a:p>
            <a:pPr algn="just"/>
            <a:r>
              <a:rPr lang="en-US" sz="2000" dirty="0" smtClean="0"/>
              <a:t>Secondly, options like updating profile and handling the maintenance with less hassles are the additional and noteworthy aspects in this regard</a:t>
            </a:r>
            <a:endParaRPr lang="en-US" sz="20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000" b="1" dirty="0" smtClean="0">
                <a:ln w="11430">
                  <a:solidFill>
                    <a:schemeClr val="tx2">
                      <a:lumMod val="50000"/>
                    </a:schemeClr>
                  </a:solidFill>
                </a:ln>
                <a:effectLst>
                  <a:outerShdw blurRad="50800" dist="39000" dir="5460000" algn="tl">
                    <a:srgbClr val="000000">
                      <a:alpha val="38000"/>
                    </a:srgbClr>
                  </a:outerShdw>
                </a:effectLst>
              </a:rPr>
              <a:t>Limitation:</a:t>
            </a:r>
            <a:br>
              <a:rPr lang="en-US" sz="2000" b="1" dirty="0" smtClean="0">
                <a:ln w="11430">
                  <a:solidFill>
                    <a:schemeClr val="tx2">
                      <a:lumMod val="50000"/>
                    </a:schemeClr>
                  </a:solidFill>
                </a:ln>
                <a:effectLst>
                  <a:outerShdw blurRad="50800" dist="39000" dir="5460000" algn="tl">
                    <a:srgbClr val="000000">
                      <a:alpha val="38000"/>
                    </a:srgbClr>
                  </a:outerShdw>
                </a:effectLst>
              </a:rPr>
            </a:br>
            <a:endParaRPr lang="en-US" sz="2000" dirty="0"/>
          </a:p>
        </p:txBody>
      </p:sp>
      <p:sp>
        <p:nvSpPr>
          <p:cNvPr id="3" name="Content Placeholder 2"/>
          <p:cNvSpPr>
            <a:spLocks noGrp="1"/>
          </p:cNvSpPr>
          <p:nvPr>
            <p:ph idx="1"/>
          </p:nvPr>
        </p:nvSpPr>
        <p:spPr/>
        <p:txBody>
          <a:bodyPr>
            <a:normAutofit/>
          </a:bodyPr>
          <a:lstStyle/>
          <a:p>
            <a:pPr>
              <a:buFont typeface="+mj-lt"/>
              <a:buAutoNum type="arabicPeriod"/>
            </a:pPr>
            <a:r>
              <a:rPr lang="en-US" sz="1800" dirty="0" smtClean="0"/>
              <a:t>This system is only cover chattogram city.</a:t>
            </a:r>
          </a:p>
          <a:p>
            <a:pPr>
              <a:buFont typeface="+mj-lt"/>
              <a:buAutoNum type="arabicPeriod"/>
            </a:pPr>
            <a:r>
              <a:rPr lang="en-US" sz="1800" dirty="0" smtClean="0"/>
              <a:t>It is not android system. </a:t>
            </a:r>
          </a:p>
          <a:p>
            <a:pPr>
              <a:buFont typeface="+mj-lt"/>
              <a:buAutoNum type="arabicPeriod"/>
            </a:pPr>
            <a:r>
              <a:rPr lang="en-US" sz="1800" dirty="0" smtClean="0"/>
              <a:t>Customer feedback.</a:t>
            </a:r>
          </a:p>
          <a:p>
            <a:pPr>
              <a:buFont typeface="+mj-lt"/>
              <a:buAutoNum type="arabicPeriod"/>
            </a:pPr>
            <a:r>
              <a:rPr lang="en-US" sz="1800" dirty="0" smtClean="0"/>
              <a:t>Advance payment gateway.</a:t>
            </a:r>
          </a:p>
          <a:p>
            <a:pPr>
              <a:buFont typeface="+mj-lt"/>
              <a:buAutoNum type="arabicPeriod"/>
            </a:pPr>
            <a:r>
              <a:rPr lang="en-US" sz="1800" dirty="0" smtClean="0"/>
              <a:t>Lack of GPS system</a:t>
            </a:r>
          </a:p>
          <a:p>
            <a:pPr>
              <a:buFont typeface="+mj-lt"/>
              <a:buAutoNum type="arabicPeriod"/>
            </a:pPr>
            <a:endParaRPr lang="en-US" sz="1800" dirty="0" smtClean="0"/>
          </a:p>
          <a:p>
            <a:pPr>
              <a:buFont typeface="+mj-lt"/>
              <a:buAutoNum type="arabicPeriod"/>
            </a:pPr>
            <a:endParaRPr lang="en-US" sz="1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000" b="1" dirty="0" smtClean="0">
                <a:ln w="11430">
                  <a:solidFill>
                    <a:schemeClr val="tx2">
                      <a:lumMod val="50000"/>
                    </a:schemeClr>
                  </a:solidFill>
                </a:ln>
                <a:effectLst>
                  <a:outerShdw blurRad="50800" dist="39000" dir="5460000" algn="tl">
                    <a:srgbClr val="000000">
                      <a:alpha val="38000"/>
                    </a:srgbClr>
                  </a:outerShdw>
                </a:effectLst>
              </a:rPr>
              <a:t>Summary:</a:t>
            </a:r>
            <a:endParaRPr lang="en-US" sz="2000" dirty="0"/>
          </a:p>
        </p:txBody>
      </p:sp>
      <p:sp>
        <p:nvSpPr>
          <p:cNvPr id="3" name="Content Placeholder 2"/>
          <p:cNvSpPr>
            <a:spLocks noGrp="1"/>
          </p:cNvSpPr>
          <p:nvPr>
            <p:ph idx="1"/>
          </p:nvPr>
        </p:nvSpPr>
        <p:spPr/>
        <p:txBody>
          <a:bodyPr>
            <a:normAutofit/>
          </a:bodyPr>
          <a:lstStyle/>
          <a:p>
            <a:pPr>
              <a:buNone/>
            </a:pPr>
            <a:endParaRPr lang="en-US" sz="1600" dirty="0" smtClean="0"/>
          </a:p>
          <a:p>
            <a:pPr>
              <a:buAutoNum type="arabicPeriod"/>
            </a:pPr>
            <a:r>
              <a:rPr lang="en-US" sz="1600" dirty="0" smtClean="0"/>
              <a:t>A rental system with complete integrity  and value able features.</a:t>
            </a:r>
          </a:p>
          <a:p>
            <a:pPr>
              <a:buAutoNum type="arabicPeriod"/>
            </a:pPr>
            <a:r>
              <a:rPr lang="en-US" sz="1600" dirty="0" smtClean="0"/>
              <a:t>Ensuring proper satisfaction with simplicity and security.</a:t>
            </a:r>
          </a:p>
          <a:p>
            <a:pPr>
              <a:buAutoNum type="arabicPeriod"/>
            </a:pPr>
            <a:r>
              <a:rPr lang="en-US" sz="1600" dirty="0" smtClean="0"/>
              <a:t>Creating easy approach for owner and renter .</a:t>
            </a:r>
          </a:p>
          <a:p>
            <a:pPr>
              <a:buAutoNum type="arabicPeriod"/>
            </a:pPr>
            <a:r>
              <a:rPr lang="en-US" sz="1600" dirty="0" smtClean="0"/>
              <a:t>Less consumption of time and manual effort.</a:t>
            </a:r>
            <a:endParaRPr lang="en-US" sz="1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dirty="0"/>
          </a:p>
        </p:txBody>
      </p:sp>
      <p:pic>
        <p:nvPicPr>
          <p:cNvPr id="3076" name="Picture 4" descr="Image result for summary images"/>
          <p:cNvPicPr>
            <a:picLocks noChangeAspect="1" noChangeArrowheads="1"/>
          </p:cNvPicPr>
          <p:nvPr/>
        </p:nvPicPr>
        <p:blipFill>
          <a:blip r:embed="rId2" cstate="print"/>
          <a:srcRect/>
          <a:stretch>
            <a:fillRect/>
          </a:stretch>
        </p:blipFill>
        <p:spPr bwMode="auto">
          <a:xfrm>
            <a:off x="6858000" y="1417637"/>
            <a:ext cx="4724400" cy="2362200"/>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700" b="1" dirty="0" smtClean="0">
                <a:ln w="11430">
                  <a:solidFill>
                    <a:schemeClr val="tx2">
                      <a:lumMod val="50000"/>
                    </a:schemeClr>
                  </a:solidFill>
                </a:ln>
                <a:effectLst>
                  <a:outerShdw blurRad="50800" dist="39000" dir="5460000" algn="tl">
                    <a:srgbClr val="000000">
                      <a:alpha val="38000"/>
                    </a:srgbClr>
                  </a:outerShdw>
                </a:effectLst>
              </a:rPr>
              <a:t>References</a:t>
            </a:r>
            <a:r>
              <a:rPr lang="en-US" dirty="0" smtClean="0"/>
              <a:t/>
            </a:r>
            <a:br>
              <a:rPr lang="en-US" dirty="0" smtClean="0"/>
            </a:br>
            <a:endParaRPr lang="en-US" dirty="0"/>
          </a:p>
        </p:txBody>
      </p:sp>
      <p:sp>
        <p:nvSpPr>
          <p:cNvPr id="3" name="Content Placeholder 2"/>
          <p:cNvSpPr>
            <a:spLocks noGrp="1"/>
          </p:cNvSpPr>
          <p:nvPr>
            <p:ph idx="1"/>
          </p:nvPr>
        </p:nvSpPr>
        <p:spPr>
          <a:xfrm>
            <a:off x="495300" y="884237"/>
            <a:ext cx="11391900" cy="5151438"/>
          </a:xfrm>
        </p:spPr>
        <p:txBody>
          <a:bodyPr>
            <a:noAutofit/>
          </a:bodyPr>
          <a:lstStyle/>
          <a:p>
            <a:pPr>
              <a:buNone/>
            </a:pPr>
            <a:r>
              <a:rPr lang="en-US" sz="1400" dirty="0" smtClean="0"/>
              <a:t>[1]N. Momtahana and N. Tabassum, “Home Rental System Implementing Constraint Satisfaction Problem,” no. 13101075. </a:t>
            </a:r>
          </a:p>
          <a:p>
            <a:pPr>
              <a:buNone/>
            </a:pPr>
            <a:r>
              <a:rPr lang="en-US" sz="1400" dirty="0" smtClean="0"/>
              <a:t>[2]H. Peter Gommans, G. Mwenda Njiru, A. Nguka Owange, and Proffessional, “Rental House Management System,” Int. J. Sci. Res. Publ., vol. 4, no. 11, pp. 2250–3153, 2014, [Online]. Available: www.ijsrp.org. </a:t>
            </a:r>
          </a:p>
          <a:p>
            <a:pPr>
              <a:buNone/>
            </a:pPr>
            <a:r>
              <a:rPr lang="en-US" sz="1400" dirty="0" smtClean="0"/>
              <a:t>[3]"Rental House, Flat, Office &amp; Apartment in Bangladesh", Rentalhomebd.com, 2021. [Online]. Available: http://rentalhomebd.com/. [Accessed: 10- Feb- 2021]. </a:t>
            </a:r>
          </a:p>
          <a:p>
            <a:pPr>
              <a:buNone/>
            </a:pPr>
            <a:r>
              <a:rPr lang="en-US" sz="1400" dirty="0" smtClean="0"/>
              <a:t>[4]M. Nanno), "The largest platform of house or commercial space rent or sell all over Bangladesh", bdto-let.com, 2021. [Online]. Available: https://www.bdto-let.com/. [Accessed: 12- Feb- 2021]. </a:t>
            </a:r>
          </a:p>
          <a:p>
            <a:pPr>
              <a:buNone/>
            </a:pPr>
            <a:r>
              <a:rPr lang="en-US" sz="1400" dirty="0" smtClean="0"/>
              <a:t>[5]b. bdHousing.com, "bdhousing.com (The First &amp; Largest real estate portal in Bangladesh)", bdhousing.com, 2021. [Online]. Available: https://www.bdhousing.com/homes/listings/Rent/Residential/Apartment. [Accessed: 12- Feb- 2021]. </a:t>
            </a:r>
          </a:p>
          <a:p>
            <a:pPr>
              <a:buNone/>
            </a:pPr>
            <a:r>
              <a:rPr lang="en-US" sz="1400" dirty="0" smtClean="0"/>
              <a:t>[6]J.JavaTpoint, "Agile Model (Software Engineering) - javatpoint", www.javatpoint.com, 2021. [Online]. Available: https://www.javatpoint.com/software-engineering-agile-model. [Accessed: 12- Feb2021].</a:t>
            </a:r>
          </a:p>
          <a:p>
            <a:pPr>
              <a:buNone/>
            </a:pPr>
            <a:r>
              <a:rPr lang="en-US" sz="1400" dirty="0" smtClean="0"/>
              <a:t> [7]P. PHP Group, "PHP: $_GET - Manual", Php.net, 2021. [Online]. Available: https://www.php.net/manual/en/reserved.variables.get.php. [Accessed: 12- Feb- 2021]. </a:t>
            </a:r>
          </a:p>
          <a:p>
            <a:pPr>
              <a:buNone/>
            </a:pPr>
            <a:r>
              <a:rPr lang="en-US" sz="1400" dirty="0" smtClean="0"/>
              <a:t>[8]D. PHP and S. Pandya, "Dynamic desktop push notifications - PHP", Stack Overflow, 2021. [Online]. Available: https://stackoverflow.com/questions/39350674/dynamic-desktop-push-notificationsphp. [Accessed: 12- Feb- 2021]. </a:t>
            </a:r>
          </a:p>
          <a:p>
            <a:pPr>
              <a:buNone/>
            </a:pPr>
            <a:r>
              <a:rPr lang="en-US" sz="1400" dirty="0" smtClean="0"/>
              <a:t>[9]t. tutorialspoin, "PHP - Date &amp; Time - Tutorialspoint", Tutorialspoint.com, 2021. [Online]. Available: https://www.tutorialspoint.com/php/php_date_and_time.htm. [Accessed: 12- Feb- 2021</a:t>
            </a:r>
            <a:endParaRPr lang="en-US" sz="1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51</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752600" y="808037"/>
            <a:ext cx="8000999" cy="4267200"/>
          </a:xfrm>
          <a:prstGeom prst="rect">
            <a:avLst/>
          </a:prstGeom>
        </p:spPr>
      </p:pic>
    </p:spTree>
    <p:extLst>
      <p:ext uri="{BB962C8B-B14F-4D97-AF65-F5344CB8AC3E}">
        <p14:creationId xmlns:p14="http://schemas.microsoft.com/office/powerpoint/2010/main" xmlns="" val="3518267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1060</TotalTime>
  <Words>1478</Words>
  <Application>Microsoft Office PowerPoint</Application>
  <PresentationFormat>Custom</PresentationFormat>
  <Paragraphs>237</Paragraphs>
  <Slides>51</Slides>
  <Notes>4</Notes>
  <HiddenSlides>0</HiddenSlides>
  <MMClips>0</MMClip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Office Theme</vt:lpstr>
      <vt:lpstr> Confirmation of Supervisor </vt:lpstr>
      <vt:lpstr>SMART HOME :Amader  Adhunik Bari</vt:lpstr>
      <vt:lpstr>Slide 3</vt:lpstr>
      <vt:lpstr>          TABLE OF CONTENTS </vt:lpstr>
      <vt:lpstr>Slide 5</vt:lpstr>
      <vt:lpstr>Slide 6</vt:lpstr>
      <vt:lpstr>Slide 7</vt:lpstr>
      <vt:lpstr>Slide 8</vt:lpstr>
      <vt:lpstr>Features of existing website : </vt:lpstr>
      <vt:lpstr>Limitation of existing websites : </vt:lpstr>
      <vt:lpstr>Possible solution : </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Limitation: </vt:lpstr>
      <vt:lpstr>Summary:</vt:lpstr>
      <vt:lpstr>References </vt:lpstr>
      <vt:lpstr>Slide 51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Amader Adhunik Bari</dc:title>
  <dc:creator>KAWSAR UDDIN</dc:creator>
  <cp:lastModifiedBy>Windows User</cp:lastModifiedBy>
  <cp:revision>186</cp:revision>
  <dcterms:created xsi:type="dcterms:W3CDTF">2006-08-16T00:00:00Z</dcterms:created>
  <dcterms:modified xsi:type="dcterms:W3CDTF">2021-06-09T14:55:24Z</dcterms:modified>
</cp:coreProperties>
</file>